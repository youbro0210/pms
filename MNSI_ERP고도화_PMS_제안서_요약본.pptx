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51560"/>
            <a:ext cx="3108960" cy="3108960"/>
          </a:xfrm>
          <a:prstGeom prst="ellipse">
            <a:avLst/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-182880"/>
            <a:ext cx="1371600" cy="1371600"/>
          </a:xfrm>
          <a:prstGeom prst="ellipse">
            <a:avLst/>
          </a:prstGeom>
          <a:solidFill>
            <a:srgbClr val="8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MNSI × SYU  |  LLM-NATIVE PMS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9509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자연어로 운영하는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수주·제작 PMS 구축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검증된 표준 PMS  +  자연어 AI 운영  +  더존 아마란스 연동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29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5개월 구축 로드맵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MNSI 수주·제작 도메인  ×  SYU LLM·OCR·AI 엔진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검증된 PMS에 자연어 AI를 더합니다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10637215" cy="932688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" y="2331720"/>
            <a:ext cx="566928" cy="566928"/>
          </a:xfrm>
          <a:prstGeom prst="ellipse">
            <a:avLst/>
          </a:prstGeom>
          <a:solidFill>
            <a:srgbClr val="8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3317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76856"/>
            <a:ext cx="926561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자연어 운영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메뉴를 찾지 않고 명령 한 줄로 입력·변경합니다. 학습 부담과 입력 오류를 줄입니다.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27832"/>
            <a:ext cx="10637215" cy="932688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0704" y="3410712"/>
            <a:ext cx="566928" cy="566928"/>
          </a:xfrm>
          <a:prstGeom prst="ellipse">
            <a:avLst/>
          </a:prstGeom>
          <a:solidFill>
            <a:srgbClr val="8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41071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55848"/>
            <a:ext cx="926561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검증된 표준 PMS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수주·진척·대금·구매·원가·대시보드 등 시장 검증 메뉴로 안정적 골격을 확보합니다.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06824"/>
            <a:ext cx="10637215" cy="932688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04" y="4489704"/>
            <a:ext cx="566928" cy="566928"/>
          </a:xfrm>
          <a:prstGeom prst="ellipse">
            <a:avLst/>
          </a:prstGeom>
          <a:solidFill>
            <a:srgbClr val="8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48970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34840"/>
            <a:ext cx="926561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안전한 반영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모든 변경은 미리보기·담당자 확정 후 반영되고 전 이력이 감사 로그로 남습니다.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385816"/>
            <a:ext cx="10637215" cy="932688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5568696"/>
            <a:ext cx="566928" cy="566928"/>
          </a:xfrm>
          <a:prstGeom prst="ellipse">
            <a:avLst/>
          </a:prstGeom>
          <a:solidFill>
            <a:srgbClr val="8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556869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513832"/>
            <a:ext cx="926561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더존 아마란스 연동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2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결산 확정 데이터가 회계전표로 자동 생성·전송되어 이중 입력을 없앱니다.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008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MNSI × SYU  ·  LLM-Native PMS 제안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658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왜 지금인가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흩어진 수기 관리에서, 하나의 자연어 PMS로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5135727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현재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44368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수기·엑셀 중심 운영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메뉴 학습 부담과 입력 실수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부서·파일별로 흩어진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17720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이중 입력과 수작업 마감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20640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현황 파악이 늦고 부정확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286000"/>
            <a:ext cx="5135727" cy="3566160"/>
          </a:xfrm>
          <a:prstGeom prst="roundRect">
            <a:avLst>
              <a:gd name="adj" fmla="val 5500"/>
            </a:avLst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2560320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도입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2944368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자연어 기반 통합 PMS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3611880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+  </a:t>
            </a:r>
            <a:r>
              <a:rPr sz="1300" b="0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명령 한 줄로 입력·변경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4114800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+  </a:t>
            </a:r>
            <a:r>
              <a:rPr sz="1300" b="0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표준 단계로 자동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4617720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+  </a:t>
            </a:r>
            <a:r>
              <a:rPr sz="1300" b="0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더존 연동으로 마감 자동화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8767" y="5120640"/>
            <a:ext cx="44956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+  </a:t>
            </a:r>
            <a:r>
              <a:rPr sz="1300" b="0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실시간 대시보드로 현황 파악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008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MNSI × SYU  ·  LLM-Native PMS 제안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58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핵심 차별화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자연어 명령으로 입력하고, 변경합니다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31720"/>
            <a:ext cx="3332378" cy="2606040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" y="2624327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624327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진척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291839"/>
            <a:ext cx="274716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“제작 실적 60%로 올려줘”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4160520"/>
            <a:ext cx="27471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해당 단계 실적을 갱신하고 전체 가중 진척률을 재계산합니다.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658" y="2331720"/>
            <a:ext cx="3332378" cy="2606040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22266" y="2624327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2266" y="2624327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발주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2266" y="3291839"/>
            <a:ext cx="274716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“NEA 압축기 본체 1.8억 발주”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2266" y="4160520"/>
            <a:ext cx="27471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품목·단가·리드타임을 해석해 발주 1건을 즉시 생성합니다.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2076" y="2331720"/>
            <a:ext cx="3332378" cy="2606040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74684" y="2624327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4684" y="2624327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기성 청구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4684" y="3291839"/>
            <a:ext cx="274716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“1회차 기성 1,000만원 청구”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4684" y="4160520"/>
            <a:ext cx="27471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대금 회차를 생성하고 유보·선급 정산과 실수금을 계산합니다.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모바일·PC 어디서나 입력하고,  </a:t>
            </a:r>
            <a:r>
              <a:rPr sz="13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반영은 담당자 확인·확정 후 이뤄집니다.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008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MNSI × SYU  ·  LLM-Native PMS 제안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658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제품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검증된 표준 PMS 메뉴 체계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40280"/>
            <a:ext cx="3362858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" y="2514600"/>
            <a:ext cx="384048" cy="384048"/>
          </a:xfrm>
          <a:prstGeom prst="ellipse">
            <a:avLst/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5146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01752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수주 ·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38328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계약 입력 시 프로젝트·표준 단계 자동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2240280"/>
            <a:ext cx="3362858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7026" y="2514600"/>
            <a:ext cx="384048" cy="384048"/>
          </a:xfrm>
          <a:prstGeom prst="ellipse">
            <a:avLst/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7026" y="25146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7026" y="301752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단계 진척 (WBS)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7026" y="338328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가중치 기반 실적·계획 진척과 편차 산출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1596" y="2240280"/>
            <a:ext cx="3362858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44204" y="2514600"/>
            <a:ext cx="384048" cy="384048"/>
          </a:xfrm>
          <a:prstGeom prst="ellipse">
            <a:avLst/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4204" y="25146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4204" y="301752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대금 (기성)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4204" y="338328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회차별 청구→확정→지급, 유보·실수금 자동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14800"/>
            <a:ext cx="3362858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9848" y="4389120"/>
            <a:ext cx="384048" cy="384048"/>
          </a:xfrm>
          <a:prstGeom prst="ellipse">
            <a:avLst/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3891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89204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기자재 구매 · 발주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525780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단가·리드타임 기반 발주, 입고·롱리드 추적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4418" y="4114800"/>
            <a:ext cx="3362858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07026" y="4389120"/>
            <a:ext cx="384048" cy="384048"/>
          </a:xfrm>
          <a:prstGeom prst="ellipse">
            <a:avLst/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7026" y="43891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7026" y="489204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원가 · 손익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7026" y="525780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직접비·간접비 집행률과 프로젝트 손익 분석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1596" y="4114800"/>
            <a:ext cx="3362858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44204" y="4389120"/>
            <a:ext cx="384048" cy="384048"/>
          </a:xfrm>
          <a:prstGeom prst="ellipse">
            <a:avLst/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4204" y="43891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4204" y="489204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대시보드 · 감사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4204" y="5257800"/>
            <a:ext cx="277764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핵심 KPI 집계와 전 변경 이력 감사 추적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4008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MNSI × SYU  ·  LLM-Native PMS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658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업무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수주부터 정산까지, 하나의 흐름으로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651760"/>
            <a:ext cx="1582369" cy="1051560"/>
          </a:xfrm>
          <a:prstGeom prst="roundRect">
            <a:avLst>
              <a:gd name="adj" fmla="val 5500"/>
            </a:avLst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98064"/>
            <a:ext cx="158236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158236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수주·계약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1321" y="2651760"/>
            <a:ext cx="26517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88209" y="2651760"/>
            <a:ext cx="1582369" cy="1051560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8209" y="2798064"/>
            <a:ext cx="158236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8209" y="3108960"/>
            <a:ext cx="158236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2290" y="2651760"/>
            <a:ext cx="26517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2651760"/>
            <a:ext cx="1582369" cy="1051560"/>
          </a:xfrm>
          <a:prstGeom prst="roundRect">
            <a:avLst>
              <a:gd name="adj" fmla="val 5500"/>
            </a:avLst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9178" y="2798064"/>
            <a:ext cx="158236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9178" y="3108960"/>
            <a:ext cx="158236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구매·조달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3259" y="2651760"/>
            <a:ext cx="26517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2651760"/>
            <a:ext cx="1582369" cy="1051560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0147" y="2798064"/>
            <a:ext cx="158236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3108960"/>
            <a:ext cx="158236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제작·가공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4228" y="2651760"/>
            <a:ext cx="26517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1116" y="2651760"/>
            <a:ext cx="1582369" cy="1051560"/>
          </a:xfrm>
          <a:prstGeom prst="roundRect">
            <a:avLst>
              <a:gd name="adj" fmla="val 5500"/>
            </a:avLst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1116" y="2798064"/>
            <a:ext cx="158236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1116" y="3108960"/>
            <a:ext cx="158236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조립·FAT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198" y="2651760"/>
            <a:ext cx="26517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32086" y="2651760"/>
            <a:ext cx="1582369" cy="1051560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32086" y="2798064"/>
            <a:ext cx="158236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32086" y="3108960"/>
            <a:ext cx="158236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납품·정산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160520"/>
            <a:ext cx="10637215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160520"/>
            <a:ext cx="990569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전 과정을 관통하는 AI 어시스턴트  </a:t>
            </a:r>
            <a:r>
              <a:rPr sz="12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— 진척·발주·대금·일정을 자연어 명령으로 입력·변경하고 대시보드에 즉시 반영합니다.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008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MNSI × SYU  ·  LLM-Native PMS 제안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658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신뢰·거버넌스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모든 변경은 확인·확정 후 반영됩니다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468880"/>
            <a:ext cx="3240938" cy="2194560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77669" y="2807208"/>
            <a:ext cx="640080" cy="640080"/>
          </a:xfrm>
          <a:prstGeom prst="ellipse">
            <a:avLst/>
          </a:prstGeom>
          <a:solidFill>
            <a:srgbClr val="8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77669" y="28072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11880"/>
            <a:ext cx="2692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자연어 명령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26922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모바일·PC에서 한 줄 명령으로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8178" y="2468880"/>
            <a:ext cx="45720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5378" y="2468880"/>
            <a:ext cx="3240938" cy="2194560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5807" y="2807208"/>
            <a:ext cx="640080" cy="640080"/>
          </a:xfrm>
          <a:prstGeom prst="ellipse">
            <a:avLst/>
          </a:prstGeom>
          <a:solidFill>
            <a:srgbClr val="8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5807" y="28072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11880"/>
            <a:ext cx="2692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LLM 미리보기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9698" y="4069080"/>
            <a:ext cx="26922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의도·수치를 해석해 ‘변경 전 → 후’ 미리보기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6316" y="2468880"/>
            <a:ext cx="45720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3516" y="2468880"/>
            <a:ext cx="3240938" cy="2194560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73946" y="2807208"/>
            <a:ext cx="640080" cy="640080"/>
          </a:xfrm>
          <a:prstGeom prst="ellipse">
            <a:avLst/>
          </a:prstGeom>
          <a:solidFill>
            <a:srgbClr val="8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3946" y="28072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7836" y="3611880"/>
            <a:ext cx="2692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담당자 확정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7836" y="4069080"/>
            <a:ext cx="26922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확인·승인해야 데이터에 반영, 전 이력 감사 로그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7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확정 전에는 어떤 데이터도 변경되지 않습니다.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008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MNSI × SYU  ·  LLM-Native PMS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58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ERP 연동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결산 한 번으로 더존 회계까지 자동 연동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468880"/>
            <a:ext cx="3764127" cy="2011680"/>
          </a:xfrm>
          <a:prstGeom prst="roundRect">
            <a:avLst>
              <a:gd name="adj" fmla="val 5500"/>
            </a:avLst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88920"/>
            <a:ext cx="31240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PMS 결산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3124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•  </a:t>
            </a:r>
            <a:r>
              <a:rPr sz="1300" b="0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매출 결산 (수주·기성 확정)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3124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•  </a:t>
            </a:r>
            <a:r>
              <a:rPr sz="1300" b="0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매입 결산 (구매·입고 확정)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1367" y="2468880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API 연동</a:t>
            </a:r>
          </a:p>
          <a:p>
            <a:pPr algn="ctr">
              <a:spcBef>
                <a:spcPts val="200"/>
              </a:spcBef>
            </a:pPr>
            <a:r>
              <a:rPr sz="30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35927" y="2468880"/>
            <a:ext cx="3764127" cy="2011680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5967" y="2788920"/>
            <a:ext cx="31240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더존 아마란스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5967" y="3429000"/>
            <a:ext cx="3124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•  </a:t>
            </a:r>
            <a:r>
              <a:rPr sz="13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회계전표(FI) 자동 생성·전송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3886200"/>
            <a:ext cx="3124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•  </a:t>
            </a:r>
            <a:r>
              <a:rPr sz="13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계정·세금계산서 매핑·상태 동기화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이중 입력과 수작업 마감을 제거</a:t>
            </a:r>
            <a:r>
              <a:rPr sz="12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하고, 회계·HR·전자결재까지 더존과 완결 연동합니다.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008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MNSI × SYU  ·  LLM-Native PMS 제안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58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구축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5개월(20주) 단계별 구축 계획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10637215" cy="502920"/>
          </a:xfrm>
          <a:prstGeom prst="roundRect">
            <a:avLst>
              <a:gd name="adj" fmla="val 2000"/>
            </a:avLst>
          </a:prstGeom>
          <a:solidFill>
            <a:srgbClr val="8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228600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286000"/>
            <a:ext cx="34134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핵심 태스크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4135" y="22860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88920"/>
            <a:ext cx="10637215" cy="8412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Phase 1  분석·설계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788920"/>
            <a:ext cx="1097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W1–W4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788920"/>
            <a:ext cx="341345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요건 정의·데이터 모델링, 표준 PMS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4135" y="2788920"/>
            <a:ext cx="24688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요구사항 정의서 · ERD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30168"/>
            <a:ext cx="10637215" cy="841248"/>
          </a:xfrm>
          <a:prstGeom prst="roundRect">
            <a:avLst>
              <a:gd name="adj" fmla="val 20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30168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Phase 2  핵심 메뉴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630168"/>
            <a:ext cx="1097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W5–W12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630168"/>
            <a:ext cx="341345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수주·진척·대금·구매·원가·대시보드 개발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4135" y="3630168"/>
            <a:ext cx="24688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핵심 PMS 모듈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71416"/>
            <a:ext cx="10637215" cy="8412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71416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Phase 3  LLM·더존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471416"/>
            <a:ext cx="1097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W13–W17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471416"/>
            <a:ext cx="341345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자연어 처리·미리보기, 더존 회계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4135" y="4471416"/>
            <a:ext cx="24688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AI 엔진 · 회계 연동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12664"/>
            <a:ext cx="10637215" cy="841248"/>
          </a:xfrm>
          <a:prstGeom prst="roundRect">
            <a:avLst>
              <a:gd name="adj" fmla="val 2000"/>
            </a:avLst>
          </a:prstGeom>
          <a:solidFill>
            <a:srgbClr val="F5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312664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Phase 4  통합·안정화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312664"/>
            <a:ext cx="1097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W18–W20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5312664"/>
            <a:ext cx="341345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통합 테스트, 현업 교육·정식 오픈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4135" y="5312664"/>
            <a:ext cx="24688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가동 승인 · 사용자 매뉴얼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008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MNSI × SYU  ·  LLM-Native PMS 제안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658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추진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1차 PMS 구축, 2차 운영 자동화(ERIGO)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5090007" cy="3383280"/>
          </a:xfrm>
          <a:prstGeom prst="roundRect">
            <a:avLst>
              <a:gd name="adj" fmla="val 5500"/>
            </a:avLst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" y="2642616"/>
            <a:ext cx="658368" cy="658368"/>
          </a:xfrm>
          <a:prstGeom prst="ellipse">
            <a:avLst/>
          </a:prstGeom>
          <a:solidFill>
            <a:srgbClr val="8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264261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743200"/>
            <a:ext cx="36269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6D2233"/>
                </a:solidFill>
                <a:latin typeface="Calibri"/>
                <a:ea typeface="Malgun Gothic"/>
                <a:cs typeface="Malgun Gothic"/>
              </a:rPr>
              <a:t>1차 · PMS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182112"/>
            <a:ext cx="3626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5개월 (20주) · 신규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840480"/>
            <a:ext cx="4267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표준 PMS 전체 메뉴 구축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279392"/>
            <a:ext cx="4267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자연어 수주·발주 생성 및 일괄변경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18304"/>
            <a:ext cx="4267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사용자 편의 UI·모바일 간편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157216"/>
            <a:ext cx="4267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납기 변경 → 일정 자동 반영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286000"/>
            <a:ext cx="5090007" cy="3383280"/>
          </a:xfrm>
          <a:prstGeom prst="roundRect">
            <a:avLst>
              <a:gd name="adj" fmla="val 5500"/>
            </a:avLst>
          </a:prstGeom>
          <a:solidFill>
            <a:srgbClr val="F5F4F2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35343" y="2642616"/>
            <a:ext cx="658368" cy="658368"/>
          </a:xfrm>
          <a:prstGeom prst="ellipse">
            <a:avLst/>
          </a:prstGeom>
          <a:solidFill>
            <a:srgbClr val="24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5343" y="264261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8887" y="2743200"/>
            <a:ext cx="36269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2차 · ERIGO 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8887" y="3182112"/>
            <a:ext cx="3626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2개월 · 설정·연동 중심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647" y="3840480"/>
            <a:ext cx="4267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구매·입고 운영 자동화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647" y="4279392"/>
            <a:ext cx="4267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공급사 납품예정 사전 등록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647" y="4718304"/>
            <a:ext cx="4267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모바일 OCR 입고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647" y="5157216"/>
            <a:ext cx="426704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–  </a:t>
            </a:r>
            <a:r>
              <a:rPr sz="13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월말 마감·재고 자동 정리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008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MNSI × SYU  ·  LLM-Native PMS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58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도입 기대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453563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1996363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19963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운영 공수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43400"/>
            <a:ext cx="19963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자연어·모바일 입력으로 입력·변경 시간과 오류 감소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5123" y="2377440"/>
            <a:ext cx="2453563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3723" y="2788920"/>
            <a:ext cx="1996363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886200"/>
            <a:ext cx="19963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현황 가시성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723" y="4343400"/>
            <a:ext cx="19963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실시간 대시보드로 진척·대금·원가를 한눈에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53563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788920"/>
            <a:ext cx="1996363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자동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3886200"/>
            <a:ext cx="19963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마감 자동화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4343400"/>
            <a:ext cx="19963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결산→더존 회계전표 자동, 이중 입력 제거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0891" y="2377440"/>
            <a:ext cx="2453563" cy="2926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491" y="2788920"/>
            <a:ext cx="1996363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491" y="3886200"/>
            <a:ext cx="19963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데이터 신뢰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491" y="4343400"/>
            <a:ext cx="19963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확정·감사 로그로 안전한 변경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0080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MNSI × SYU  ·  LLM-Native PMS 제안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65815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989AA0"/>
                </a:solidFill>
                <a:latin typeface="Calibri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4754880"/>
            <a:ext cx="2926080" cy="2926080"/>
          </a:xfrm>
          <a:prstGeom prst="ellipse">
            <a:avLst/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914400"/>
            <a:ext cx="2743200" cy="2743200"/>
          </a:xfrm>
          <a:prstGeom prst="ellipse">
            <a:avLst/>
          </a:prstGeom>
          <a:solidFill>
            <a:srgbClr val="F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8A2E43"/>
                </a:solidFill>
                <a:latin typeface="Calibri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검증된 PMS에 자연어 AI를 더해,</a:t>
            </a:r>
          </a:p>
          <a:p>
            <a:pPr algn="ctr">
              <a:lnSpc>
                <a:spcPct val="108000"/>
              </a:lnSpc>
            </a:pPr>
            <a:r>
              <a:rPr sz="3400" b="1">
                <a:solidFill>
                  <a:srgbClr val="24282F"/>
                </a:solidFill>
                <a:latin typeface="Calibri"/>
                <a:ea typeface="Malgun Gothic"/>
                <a:cs typeface="Malgun Gothic"/>
              </a:rPr>
              <a:t>입력은 쉽게 · 현황은 투명하게 · 마감은 자동으로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5B63"/>
                </a:solidFill>
                <a:latin typeface="Calibri"/>
                <a:ea typeface="Malgun Gothic"/>
                <a:cs typeface="Malgun Gothic"/>
              </a:rPr>
              <a:t>5개월 구축 로드맵 · 더존 아마란스 완결 연동 · SYU 공동 제안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5647" y="5074920"/>
            <a:ext cx="3200400" cy="603504"/>
          </a:xfrm>
          <a:prstGeom prst="roundRect">
            <a:avLst>
              <a:gd name="adj" fmla="val 50000"/>
            </a:avLst>
          </a:prstGeom>
          <a:solidFill>
            <a:srgbClr val="8A2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5647" y="5074920"/>
            <a:ext cx="3200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  <a:ea typeface="Malgun Gothic"/>
                <a:cs typeface="Malgun Gothic"/>
              </a:rPr>
              <a:t>다음 단계 · 착수 협의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