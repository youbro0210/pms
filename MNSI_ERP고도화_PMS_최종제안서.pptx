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6" r:id="rId5"/>
    <p:sldId id="257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3" r:id="rId27"/>
    <p:sldId id="274" r:id="rId28"/>
    <p:sldId id="286" r:id="rId29"/>
    <p:sldId id="287" r:id="rId30"/>
    <p:sldId id="276" r:id="rId31"/>
    <p:sldId id="288" r:id="rId32"/>
    <p:sldId id="277" r:id="rId33"/>
    <p:sldId id="289" r:id="rId34"/>
    <p:sldId id="259" r:id="rId35"/>
    <p:sldId id="260" r:id="rId36"/>
    <p:sldId id="261" r:id="rId37"/>
    <p:sldId id="290" r:id="rId38"/>
    <p:sldId id="291" r:id="rId3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00383-4A51-4CE8-B092-B7F4A04AEAF5}" v="1" dt="2026-06-22T10:29:03.449"/>
    <p1510:client id="{FA4094E2-821B-4B68-88C9-AF4700A75DB6}" v="3" dt="2026-06-22T11:00:20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5277" autoAdjust="0"/>
  </p:normalViewPr>
  <p:slideViewPr>
    <p:cSldViewPr snapToGrid="0" showGuides="1">
      <p:cViewPr varScale="1">
        <p:scale>
          <a:sx n="110" d="100"/>
          <a:sy n="110" d="100"/>
        </p:scale>
        <p:origin x="630" y="10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C0F536-A72B-4C27-AE2E-2682CBC995E3}" type="datetime1">
              <a:rPr lang="ko-KR" altLang="en-US" smtClean="0">
                <a:latin typeface="+mj-ea"/>
                <a:ea typeface="+mj-ea"/>
              </a:rPr>
              <a:t>2026-07-06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F21DEF23-E451-45C6-94B1-A6BA6C417D00}" type="datetime1">
              <a:rPr lang="ko-KR" altLang="en-US" smtClean="0"/>
              <a:pPr/>
              <a:t>2026-07-06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79230CFA-805A-4FD3-B3A0-DAAA5993DA17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가 있는 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그림 개체 틀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 dirty="0"/>
              <a:t>그림을 추가하려면 아이콘을 클릭하세요</a:t>
            </a:r>
            <a:r>
              <a:rPr lang="en-US" altLang="ko-KR" noProof="0" dirty="0"/>
              <a:t>.</a:t>
            </a:r>
            <a:endParaRPr lang="ko-KR" altLang="en-US" noProof="0" dirty="0"/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 title="제목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 dirty="0"/>
              <a:t>클릭하여 마스터 제목 스타일 편집</a:t>
            </a:r>
          </a:p>
        </p:txBody>
      </p:sp>
      <p:sp>
        <p:nvSpPr>
          <p:cNvPr id="3" name="부제목 2" title="부제목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부제목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A63A4E"/>
          </p15:clr>
        </p15:guide>
        <p15:guide id="2" pos="7537" userDrawn="1">
          <p15:clr>
            <a:srgbClr val="A63A4E"/>
          </p15:clr>
        </p15:guide>
        <p15:guide id="3" pos="138" userDrawn="1">
          <p15:clr>
            <a:srgbClr val="A63A4E"/>
          </p15:clr>
        </p15:guide>
        <p15:guide id="4" orient="horz" pos="4178" userDrawn="1">
          <p15:clr>
            <a:srgbClr val="A63A4E"/>
          </p15:clr>
        </p15:guide>
        <p15:guide id="5" orient="horz" pos="142" userDrawn="1">
          <p15:clr>
            <a:srgbClr val="A63A4E"/>
          </p15:clr>
        </p15:guide>
        <p15:guide id="6" pos="2457" userDrawn="1">
          <p15:clr>
            <a:srgbClr val="A63A4E"/>
          </p15:clr>
        </p15:guide>
        <p15:guide id="7" pos="438" userDrawn="1">
          <p15:clr>
            <a:srgbClr val="A63A4E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포함 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각 삼각형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제목 1" title="제목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101" name="텍스트 개체 틀 2" title="부제목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cxnSp>
        <p:nvCxnSpPr>
          <p:cNvPr id="21" name="직선 연결선(S)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평행 사변형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26" name="직선 연결선(S)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그림 개체 틀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평행 사변형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A63A4E"/>
          </p15:clr>
        </p15:guide>
        <p15:guide id="2" pos="3840" userDrawn="1">
          <p15:clr>
            <a:srgbClr val="A63A4E"/>
          </p15:clr>
        </p15:guide>
        <p15:guide id="3" pos="143" userDrawn="1">
          <p15:clr>
            <a:srgbClr val="A63A4E"/>
          </p15:clr>
        </p15:guide>
        <p15:guide id="4" orient="horz" pos="4170" userDrawn="1">
          <p15:clr>
            <a:srgbClr val="A63A4E"/>
          </p15:clr>
        </p15:guide>
        <p15:guide id="5" pos="7537" userDrawn="1">
          <p15:clr>
            <a:srgbClr val="A63A4E"/>
          </p15:clr>
        </p15:guide>
        <p15:guide id="6" orient="horz" pos="142" userDrawn="1">
          <p15:clr>
            <a:srgbClr val="A63A4E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레이아웃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 title="글머리 기호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5" name="평행 사변형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34" name="직선 연결선(S)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7A2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 title="부제목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/>
              <a:t>클릭하여 부제목 스타일 편집</a:t>
            </a:r>
          </a:p>
        </p:txBody>
      </p:sp>
      <p:sp>
        <p:nvSpPr>
          <p:cNvPr id="2" name="제목 1" title="제목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편집 </a:t>
            </a:r>
            <a:br>
              <a:rPr lang="ko-KR" altLang="en-US" noProof="0"/>
            </a:br>
            <a:r>
              <a:rPr lang="ko-KR" altLang="en-US" noProof="0"/>
              <a:t>마스터 제목 스타일 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 noProof="0"/>
              <a:t>바닥글 추가</a:t>
            </a: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noProof="0" smtClean="0"/>
              <a:pPr/>
              <a:t>‹#›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415" userDrawn="1">
          <p15:clr>
            <a:srgbClr val="A63A4E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레이아웃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각 삼각형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내용 개체 틀 2" title="글머리 기호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25" name="평행 사변형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34" name="직선 연결선(S)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 title="부제목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/>
              <a:t>클릭하여 부제목 스타일 편집</a:t>
            </a:r>
          </a:p>
        </p:txBody>
      </p:sp>
      <p:sp>
        <p:nvSpPr>
          <p:cNvPr id="17" name="텍스트 상자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  <a:endParaRPr lang="ko-KR" altLang="en-US" sz="3400" b="1" noProof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9" name="제목 1" title="제목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편집 </a:t>
            </a:r>
            <a:br>
              <a:rPr lang="ko-KR" altLang="en-US" noProof="0"/>
            </a:br>
            <a:r>
              <a:rPr lang="ko-KR" altLang="en-US" noProof="0"/>
              <a:t>마스터 제목 스타일 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 noProof="0"/>
              <a:t>바닥글 추가</a:t>
            </a: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noProof="0" smtClean="0"/>
              <a:pPr/>
              <a:t>‹#›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415">
          <p15:clr>
            <a:srgbClr val="A63A4E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제목과 함께 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대각선 줄무늬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8" name="내용 개체 틀 3" title="글머리 기호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 hasCustomPrompt="1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defRPr lang="en-IN" dirty="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>
              <a:buClr>
                <a:schemeClr val="accent2"/>
              </a:buClr>
            </a:pPr>
            <a:r>
              <a:rPr lang="ko-KR" altLang="en-US" noProof="0"/>
              <a:t>둘째 수준</a:t>
            </a:r>
          </a:p>
          <a:p>
            <a:pPr lvl="2" rtl="0">
              <a:buClr>
                <a:schemeClr val="accent2"/>
              </a:buClr>
            </a:pPr>
            <a:r>
              <a:rPr lang="ko-KR" altLang="en-US" noProof="0"/>
              <a:t>셋째 수준</a:t>
            </a:r>
          </a:p>
          <a:p>
            <a:pPr lvl="3" rtl="0">
              <a:buClr>
                <a:schemeClr val="accent2"/>
              </a:buClr>
            </a:pPr>
            <a:r>
              <a:rPr lang="ko-KR" altLang="en-US" noProof="0"/>
              <a:t>넷째 수준</a:t>
            </a:r>
          </a:p>
          <a:p>
            <a:pPr lvl="4" rtl="0">
              <a:buClr>
                <a:schemeClr val="accent2"/>
              </a:buClr>
            </a:pPr>
            <a:r>
              <a:rPr lang="ko-KR" altLang="en-US" noProof="0"/>
              <a:t>다섯째 수준</a:t>
            </a:r>
          </a:p>
        </p:txBody>
      </p:sp>
      <p:sp>
        <p:nvSpPr>
          <p:cNvPr id="19" name="텍스트 개체 틀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0" name="내용 개체 틀 5" title="글머리 기호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defRPr lang="en-US" dirty="0"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defRPr lang="en-IN" dirty="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>
              <a:buClr>
                <a:schemeClr val="accent2"/>
              </a:buClr>
            </a:pPr>
            <a:r>
              <a:rPr lang="ko-KR" altLang="en-US" noProof="0"/>
              <a:t>둘째 수준</a:t>
            </a:r>
          </a:p>
          <a:p>
            <a:pPr lvl="2" rtl="0">
              <a:buClr>
                <a:schemeClr val="accent2"/>
              </a:buClr>
            </a:pPr>
            <a:r>
              <a:rPr lang="ko-KR" altLang="en-US" noProof="0"/>
              <a:t>셋째 수준</a:t>
            </a:r>
          </a:p>
          <a:p>
            <a:pPr lvl="3" rtl="0">
              <a:buClr>
                <a:schemeClr val="accent2"/>
              </a:buClr>
            </a:pPr>
            <a:r>
              <a:rPr lang="ko-KR" altLang="en-US" noProof="0"/>
              <a:t>넷째 수준</a:t>
            </a:r>
          </a:p>
          <a:p>
            <a:pPr lvl="4" rtl="0">
              <a:buClr>
                <a:schemeClr val="accent2"/>
              </a:buClr>
            </a:pPr>
            <a:r>
              <a:rPr lang="ko-KR" altLang="en-US" noProof="0"/>
              <a:t>다섯째 수준</a:t>
            </a:r>
          </a:p>
        </p:txBody>
      </p:sp>
      <p:sp>
        <p:nvSpPr>
          <p:cNvPr id="24" name="텍스트 개체 틀 4" title="부제목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/>
              <a:t>클릭하여 부제목 스타일 편집</a:t>
            </a:r>
          </a:p>
        </p:txBody>
      </p:sp>
      <p:sp>
        <p:nvSpPr>
          <p:cNvPr id="25" name="텍스트 상자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  <a:endParaRPr lang="ko-KR" altLang="en-US" sz="3400" b="1" noProof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7" name="제목 1" title="제목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3840">
          <p15:clr>
            <a:srgbClr val="A63A4E"/>
          </p15:clr>
        </p15:guide>
        <p15:guide id="3" pos="393">
          <p15:clr>
            <a:srgbClr val="A63A4E"/>
          </p15:clr>
        </p15:guide>
        <p15:guide id="4" pos="7423">
          <p15:clr>
            <a:srgbClr val="A63A4E"/>
          </p15:clr>
        </p15:guide>
        <p15:guide id="5" orient="horz" pos="777" userDrawn="1">
          <p15:clr>
            <a:srgbClr val="A63A4E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상자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대각선 줄무늬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30" name="직선 연결선(S)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평행 사변형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33" name="평행 사변형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34" name="텍스트 개체 틀 4" title="부제목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/>
              <a:t>클릭하여 부제목 스타일 편집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제목 1" title="제목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여기에 텍스트 입력</a:t>
            </a:r>
          </a:p>
        </p:txBody>
      </p:sp>
      <p:sp>
        <p:nvSpPr>
          <p:cNvPr id="20" name="차트 개체 틀 2" title="차트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j-ea"/>
                <a:ea typeface="+mj-ea"/>
                <a:cs typeface="CiscoSans ExtraLight"/>
              </a:defRPr>
            </a:lvl1pPr>
          </a:lstStyle>
          <a:p>
            <a:pPr lvl="0" rtl="0"/>
            <a:r>
              <a:rPr lang="ko-KR" altLang="en-US" noProof="0"/>
              <a:t>아이콘을 클릭하여 차트 추가</a:t>
            </a:r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778">
          <p15:clr>
            <a:srgbClr val="A63A4E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표 개체 틀 11" title="표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ko-KR" altLang="en-US" noProof="0"/>
              <a:t>아이콘을 클릭하여 표 추가</a:t>
            </a:r>
          </a:p>
        </p:txBody>
      </p:sp>
      <p:sp>
        <p:nvSpPr>
          <p:cNvPr id="16" name="텍스트 상자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대각선 줄무늬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평행 사변형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37" name="텍스트 개체 틀 4" title="부제목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/>
              <a:t>클릭하여 부제목 스타일 편집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제목 1" title="제목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778">
          <p15:clr>
            <a:srgbClr val="A63A4E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5" name="그림 개체 틀 31" title="이미지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+mj-ea"/>
                <a:ea typeface="+mj-ea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/>
              <a:t>여기에 이미지 삽입 또는 끌어서 놓기</a:t>
            </a:r>
          </a:p>
        </p:txBody>
      </p: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 title="제목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여기에 캡션 입력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A63A4E"/>
          </p15:clr>
        </p15:guide>
        <p15:guide id="2" pos="3840" userDrawn="1">
          <p15:clr>
            <a:srgbClr val="A63A4E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title="제목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이름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전화번호</a:t>
            </a:r>
          </a:p>
        </p:txBody>
      </p:sp>
      <p:sp>
        <p:nvSpPr>
          <p:cNvPr id="11" name="텍스트 개체 틀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전자 메일 </a:t>
            </a:r>
          </a:p>
        </p:txBody>
      </p:sp>
      <p:sp>
        <p:nvSpPr>
          <p:cNvPr id="13" name="텍스트 개체 틀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회사 웹 사이트</a:t>
            </a:r>
          </a:p>
        </p:txBody>
      </p:sp>
      <p:sp>
        <p:nvSpPr>
          <p:cNvPr id="14" name="도형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5" name="도형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9" name="도형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0" name="도형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(S)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그림 개체 틀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7537">
          <p15:clr>
            <a:srgbClr val="A63A4E"/>
          </p15:clr>
        </p15:guide>
        <p15:guide id="3" pos="138">
          <p15:clr>
            <a:srgbClr val="A63A4E"/>
          </p15:clr>
        </p15:guide>
        <p15:guide id="4" orient="horz" pos="4178">
          <p15:clr>
            <a:srgbClr val="A63A4E"/>
          </p15:clr>
        </p15:guide>
        <p15:guide id="5" orient="horz" pos="142">
          <p15:clr>
            <a:srgbClr val="A63A4E"/>
          </p15:clr>
        </p15:guide>
        <p15:guide id="6" pos="2457">
          <p15:clr>
            <a:srgbClr val="A63A4E"/>
          </p15:clr>
        </p15:guide>
        <p15:guide id="7" pos="438">
          <p15:clr>
            <a:srgbClr val="A63A4E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 title="제목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 title="부제목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7537">
          <p15:clr>
            <a:srgbClr val="A63A4E"/>
          </p15:clr>
        </p15:guide>
        <p15:guide id="3" pos="138">
          <p15:clr>
            <a:srgbClr val="A63A4E"/>
          </p15:clr>
        </p15:guide>
        <p15:guide id="4" orient="horz" pos="4178">
          <p15:clr>
            <a:srgbClr val="A63A4E"/>
          </p15:clr>
        </p15:guide>
        <p15:guide id="5" orient="horz" pos="142">
          <p15:clr>
            <a:srgbClr val="A63A4E"/>
          </p15:clr>
        </p15:guide>
        <p15:guide id="6" pos="2457">
          <p15:clr>
            <a:srgbClr val="A63A4E"/>
          </p15:clr>
        </p15:guide>
        <p15:guide id="7" pos="438">
          <p15:clr>
            <a:srgbClr val="A63A4E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각 삼각형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제목 1" title="제목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ea"/>
                <a:ea typeface="+mj-ea"/>
                <a:cs typeface="Calibri Light" panose="020F0302020204030204" pitchFamily="34" charset="0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101" name="텍스트 개체 틀 2" title="부제목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cxnSp>
        <p:nvCxnSpPr>
          <p:cNvPr id="21" name="직선 연결선(S)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평행 사변형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26" name="직선 연결선(S)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평행 사변형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A63A4E"/>
          </p15:clr>
        </p15:guide>
        <p15:guide id="2" pos="3840">
          <p15:clr>
            <a:srgbClr val="A63A4E"/>
          </p15:clr>
        </p15:guide>
        <p15:guide id="3" pos="143">
          <p15:clr>
            <a:srgbClr val="A63A4E"/>
          </p15:clr>
        </p15:guide>
        <p15:guide id="4" orient="horz" pos="4170">
          <p15:clr>
            <a:srgbClr val="A63A4E"/>
          </p15:clr>
        </p15:guide>
        <p15:guide id="5" pos="7537">
          <p15:clr>
            <a:srgbClr val="A63A4E"/>
          </p15:clr>
        </p15:guide>
        <p15:guide id="6" orient="horz" pos="142">
          <p15:clr>
            <a:srgbClr val="A63A4E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대각선 줄무늬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25" name="텍스트 상자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6"/>
                </a:solidFill>
                <a:latin typeface="+mj-ea"/>
                <a:ea typeface="+mj-ea"/>
              </a:rPr>
              <a:t>FR</a:t>
            </a: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제목 1" title="제목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3840">
          <p15:clr>
            <a:srgbClr val="A63A4E"/>
          </p15:clr>
        </p15:guide>
        <p15:guide id="3" pos="393">
          <p15:clr>
            <a:srgbClr val="A63A4E"/>
          </p15:clr>
        </p15:guide>
        <p15:guide id="4" pos="7423">
          <p15:clr>
            <a:srgbClr val="A63A4E"/>
          </p15:clr>
        </p15:guide>
        <p15:guide id="5" orient="horz" pos="777">
          <p15:clr>
            <a:srgbClr val="A63A4E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대각선 줄무늬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25" name="텍스트 상자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6"/>
                </a:solidFill>
                <a:latin typeface="+mj-ea"/>
                <a:ea typeface="+mj-ea"/>
              </a:rPr>
              <a:t>FR</a:t>
            </a: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제목 1" title="제목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3840">
          <p15:clr>
            <a:srgbClr val="A63A4E"/>
          </p15:clr>
        </p15:guide>
        <p15:guide id="3" pos="393">
          <p15:clr>
            <a:srgbClr val="A63A4E"/>
          </p15:clr>
        </p15:guide>
        <p15:guide id="4" pos="7423">
          <p15:clr>
            <a:srgbClr val="A63A4E"/>
          </p15:clr>
        </p15:guide>
        <p15:guide id="5" orient="horz" pos="777">
          <p15:clr>
            <a:srgbClr val="A63A4E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대각선 줄무늬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25" name="텍스트 상자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6"/>
                </a:solidFill>
                <a:latin typeface="+mj-ea"/>
                <a:ea typeface="+mj-ea"/>
              </a:rPr>
              <a:t>FR</a:t>
            </a: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제목 1" title="제목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  <a:latin typeface="+mj-ea"/>
                <a:ea typeface="+mj-ea"/>
              </a:defRPr>
            </a:lvl1pPr>
          </a:lstStyle>
          <a:p>
            <a:pPr marL="228600" lvl="0" indent="-22860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내용 개체 틀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24" name="내용 개체 틀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3840">
          <p15:clr>
            <a:srgbClr val="A63A4E"/>
          </p15:clr>
        </p15:guide>
        <p15:guide id="3" pos="393">
          <p15:clr>
            <a:srgbClr val="A63A4E"/>
          </p15:clr>
        </p15:guide>
        <p15:guide id="4" pos="7423">
          <p15:clr>
            <a:srgbClr val="A63A4E"/>
          </p15:clr>
        </p15:guide>
        <p15:guide id="5" orient="horz" pos="777">
          <p15:clr>
            <a:srgbClr val="A63A4E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 title="제목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>
                <a:latin typeface="+mj-ea"/>
                <a:ea typeface="+mj-ea"/>
              </a:defRPr>
            </a:lvl1pPr>
            <a:lvl2pPr>
              <a:buClr>
                <a:schemeClr val="accent2"/>
              </a:buClr>
              <a:defRPr sz="2000">
                <a:latin typeface="+mj-ea"/>
                <a:ea typeface="+mj-ea"/>
              </a:defRPr>
            </a:lvl2pPr>
            <a:lvl3pPr>
              <a:buClr>
                <a:schemeClr val="accent2"/>
              </a:buClr>
              <a:defRPr sz="1800">
                <a:latin typeface="+mj-ea"/>
                <a:ea typeface="+mj-ea"/>
              </a:defRPr>
            </a:lvl3pPr>
            <a:lvl4pPr>
              <a:buClr>
                <a:schemeClr val="accent2"/>
              </a:buClr>
              <a:defRPr sz="1600">
                <a:latin typeface="+mj-ea"/>
                <a:ea typeface="+mj-ea"/>
              </a:defRPr>
            </a:lvl4pPr>
            <a:lvl5pPr>
              <a:buClr>
                <a:schemeClr val="accent2"/>
              </a:buClr>
              <a:defRPr sz="16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7537">
          <p15:clr>
            <a:srgbClr val="A63A4E"/>
          </p15:clr>
        </p15:guide>
        <p15:guide id="3" pos="138">
          <p15:clr>
            <a:srgbClr val="A63A4E"/>
          </p15:clr>
        </p15:guide>
        <p15:guide id="4" orient="horz" pos="4178">
          <p15:clr>
            <a:srgbClr val="A63A4E"/>
          </p15:clr>
        </p15:guide>
        <p15:guide id="5" orient="horz" pos="142">
          <p15:clr>
            <a:srgbClr val="A63A4E"/>
          </p15:clr>
        </p15:guide>
        <p15:guide id="6" pos="2457">
          <p15:clr>
            <a:srgbClr val="A63A4E"/>
          </p15:clr>
        </p15:guide>
        <p15:guide id="7" pos="438">
          <p15:clr>
            <a:srgbClr val="A63A4E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 title="제목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A63A4E"/>
          </p15:clr>
        </p15:guide>
        <p15:guide id="2" pos="7537">
          <p15:clr>
            <a:srgbClr val="A63A4E"/>
          </p15:clr>
        </p15:guide>
        <p15:guide id="3" pos="138">
          <p15:clr>
            <a:srgbClr val="A63A4E"/>
          </p15:clr>
        </p15:guide>
        <p15:guide id="4" orient="horz" pos="4178">
          <p15:clr>
            <a:srgbClr val="A63A4E"/>
          </p15:clr>
        </p15:guide>
        <p15:guide id="5" orient="horz" pos="142">
          <p15:clr>
            <a:srgbClr val="A63A4E"/>
          </p15:clr>
        </p15:guide>
        <p15:guide id="6" pos="2457">
          <p15:clr>
            <a:srgbClr val="A63A4E"/>
          </p15:clr>
        </p15:guide>
        <p15:guide id="7" pos="438">
          <p15:clr>
            <a:srgbClr val="A63A4E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상자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대각선 줄무늬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평행 사변형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30" name="평행 사변형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778">
          <p15:clr>
            <a:srgbClr val="A63A4E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6992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altLang="ko-KR" sz="3400" b="1" noProof="0">
                <a:solidFill>
                  <a:schemeClr val="accent1"/>
                </a:solidFill>
                <a:latin typeface="+mj-ea"/>
                <a:ea typeface="+mj-ea"/>
              </a:rPr>
              <a:t>FR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대각선 줄무늬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9" name="직선 연결선(S)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>
                <a:latin typeface="+mj-ea"/>
                <a:ea typeface="+mj-ea"/>
              </a:endParaRPr>
            </a:p>
          </p:txBody>
        </p:sp>
      </p:grpSp>
      <p:sp>
        <p:nvSpPr>
          <p:cNvPr id="31" name="평행 사변형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33" name="제목 1" title="제목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클릭하여 마스터 제목 스타일 편집 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699F50C-BE38-4BD0-BA84-9B090E1F2B9B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A63A4E"/>
          </p15:clr>
        </p15:guide>
        <p15:guide id="2" pos="3840">
          <p15:clr>
            <a:srgbClr val="A63A4E"/>
          </p15:clr>
        </p15:guide>
        <p15:guide id="3" pos="778">
          <p15:clr>
            <a:srgbClr val="A63A4E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6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  <a:endParaRPr lang="ko-KR" altLang="en-US" noProof="0" dirty="0">
              <a:latin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699F50C-BE38-4BD0-BA84-9B090E1F2B9B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개체 틀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  <p:sldLayoutId id="2147483717" r:id="rId20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7A2033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7A2033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7A2033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7A2033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7A2033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2" name="tri1"/>
          <p:cNvSpPr/>
          <p:nvPr/>
        </p:nvSpPr>
        <p:spPr>
          <a:xfrm>
            <a:off x="0" y="3658000"/>
            <a:ext cx="7200000" cy="3200000"/>
          </a:xfrm>
          <a:prstGeom prst="rtTriangle">
            <a:avLst/>
          </a:prstGeom>
          <a:solidFill>
            <a:srgbClr val="5E192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3" name="tri2"/>
          <p:cNvSpPr/>
          <p:nvPr/>
        </p:nvSpPr>
        <p:spPr>
          <a:xfrm>
            <a:off x="7592000" y="0"/>
            <a:ext cx="4600000" cy="2500000"/>
          </a:xfrm>
          <a:prstGeom prst="rtTriangle">
            <a:avLst/>
          </a:prstGeom>
          <a:solidFill>
            <a:srgbClr val="241E2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cxnSp>
        <p:nvCxnSpPr>
          <p:cNvPr id="104" name="goldline"/>
          <p:cNvCxnSpPr/>
          <p:nvPr/>
        </p:nvCxnSpPr>
        <p:spPr>
          <a:xfrm>
            <a:off x="8692000" y="0"/>
            <a:ext cx="3500000" cy="1900000"/>
          </a:xfrm>
          <a:prstGeom prst="line">
            <a:avLst/>
          </a:prstGeom>
          <a:ln w="28575">
            <a:solidFill>
              <a:srgbClr val="7A2033"/>
            </a:solidFill>
          </a:ln>
        </p:spPr>
      </p:cxnSp>
      <p:sp>
        <p:nvSpPr>
          <p:cNvPr id="105" name="bmk"/>
          <p:cNvSpPr/>
          <p:nvPr/>
        </p:nvSpPr>
        <p:spPr>
          <a:xfrm>
            <a:off x="600000" y="76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6" name="brand"/>
          <p:cNvSpPr txBox="1"/>
          <p:nvPr/>
        </p:nvSpPr>
        <p:spPr>
          <a:xfrm>
            <a:off x="830000" y="700000"/>
            <a:ext cx="80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7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MNSI LLM-NATIVE PMS  ·  with SYU AI</a:t>
            </a:r>
          </a:p>
        </p:txBody>
      </p:sp>
      <p:sp>
        <p:nvSpPr>
          <p:cNvPr id="107" name="title"/>
          <p:cNvSpPr txBox="1"/>
          <p:nvPr/>
        </p:nvSpPr>
        <p:spPr>
          <a:xfrm>
            <a:off x="600000" y="1150000"/>
            <a:ext cx="10800000" cy="2966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LLM 자연어 기반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ERP </a:t>
            </a:r>
            <a:r>
              <a:rPr lang="ko-KR" altLang="en-US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고도화 개발 및 </a:t>
            </a:r>
            <a:r>
              <a:rPr lang="ko-KR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PMS </a:t>
            </a:r>
            <a:r>
              <a:rPr lang="ko-KR" altLang="en-US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도입</a:t>
            </a:r>
            <a:r>
              <a:rPr lang="ko-KR" sz="4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제안서</a:t>
            </a:r>
          </a:p>
        </p:txBody>
      </p:sp>
      <p:sp>
        <p:nvSpPr>
          <p:cNvPr id="108" name="tag"/>
          <p:cNvSpPr txBox="1"/>
          <p:nvPr/>
        </p:nvSpPr>
        <p:spPr>
          <a:xfrm>
            <a:off x="600000" y="4350000"/>
            <a:ext cx="1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1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더존 아마란스 회계·HR 연동   |   LLM·OCR 공동제안 (SYU)   |   5개월 구축 로드맵</a:t>
            </a:r>
          </a:p>
        </p:txBody>
      </p:sp>
      <p:sp>
        <p:nvSpPr>
          <p:cNvPr id="109" name="bl"/>
          <p:cNvSpPr txBox="1"/>
          <p:nvPr/>
        </p:nvSpPr>
        <p:spPr>
          <a:xfrm>
            <a:off x="600000" y="6298000"/>
            <a:ext cx="10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검증된 PMS 기능 + 자연어 AI 운영 + 더존 아마란스 연동  ·  SYU 공동 제안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프로젝트 개요</a:t>
            </a:r>
          </a:p>
        </p:txBody>
      </p:sp>
      <p:sp>
        <p:nvSpPr>
          <p:cNvPr id="112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왜 LLM 기반 PMS</a:t>
            </a:r>
            <a:r>
              <a:rPr lang="en-US" alt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(Project Management System)</a:t>
            </a: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 인가</a:t>
            </a:r>
          </a:p>
        </p:txBody>
      </p:sp>
      <p:sp>
        <p:nvSpPr>
          <p:cNvPr id="113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Project Overview &amp; Strategic Direction</a:t>
            </a:r>
          </a:p>
        </p:txBody>
      </p:sp>
      <p:sp>
        <p:nvSpPr>
          <p:cNvPr id="114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15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2</a:t>
            </a:r>
          </a:p>
        </p:txBody>
      </p:sp>
      <p:sp>
        <p:nvSpPr>
          <p:cNvPr id="116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7" name="card"/>
          <p:cNvSpPr/>
          <p:nvPr/>
        </p:nvSpPr>
        <p:spPr>
          <a:xfrm>
            <a:off x="600000" y="188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18" name="badge"/>
          <p:cNvSpPr/>
          <p:nvPr/>
        </p:nvSpPr>
        <p:spPr>
          <a:xfrm>
            <a:off x="800000" y="208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9" name="ch"/>
          <p:cNvSpPr txBox="1"/>
          <p:nvPr/>
        </p:nvSpPr>
        <p:spPr>
          <a:xfrm>
            <a:off x="1480000" y="209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자연어로 입력·변경하는 PMS</a:t>
            </a:r>
          </a:p>
        </p:txBody>
      </p:sp>
      <p:sp>
        <p:nvSpPr>
          <p:cNvPr id="120" name="cd"/>
          <p:cNvSpPr txBox="1"/>
          <p:nvPr/>
        </p:nvSpPr>
        <p:spPr>
          <a:xfrm>
            <a:off x="810000" y="276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진척·대금·발주 등 모든 데이터를 메뉴 탐색 없이 ‘자연어 명령 한 줄’로 입력·수정하여, 담당자의 입력 부담과 학습 비용을 최소화합니다.</a:t>
            </a:r>
          </a:p>
        </p:txBody>
      </p:sp>
      <p:sp>
        <p:nvSpPr>
          <p:cNvPr id="121" name="card"/>
          <p:cNvSpPr/>
          <p:nvPr/>
        </p:nvSpPr>
        <p:spPr>
          <a:xfrm>
            <a:off x="6330000" y="188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22" name="badge"/>
          <p:cNvSpPr/>
          <p:nvPr/>
        </p:nvSpPr>
        <p:spPr>
          <a:xfrm>
            <a:off x="6530000" y="208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3" name="ch"/>
          <p:cNvSpPr txBox="1"/>
          <p:nvPr/>
        </p:nvSpPr>
        <p:spPr>
          <a:xfrm>
            <a:off x="7210000" y="209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검증된 표준 PMS 메뉴 체계</a:t>
            </a:r>
          </a:p>
        </p:txBody>
      </p:sp>
      <p:sp>
        <p:nvSpPr>
          <p:cNvPr id="124" name="cd"/>
          <p:cNvSpPr txBox="1"/>
          <p:nvPr/>
        </p:nvSpPr>
        <p:spPr>
          <a:xfrm>
            <a:off x="6540000" y="276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수주·진척·대금·구매·원가·감사 등 시장에서 검증된 PMS 표준 메뉴를 도입해, 처음부터 안정적인 업무 골격을 확보합니다.</a:t>
            </a:r>
          </a:p>
        </p:txBody>
      </p:sp>
      <p:sp>
        <p:nvSpPr>
          <p:cNvPr id="125" name="card"/>
          <p:cNvSpPr/>
          <p:nvPr/>
        </p:nvSpPr>
        <p:spPr>
          <a:xfrm>
            <a:off x="600000" y="430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26" name="badge"/>
          <p:cNvSpPr/>
          <p:nvPr/>
        </p:nvSpPr>
        <p:spPr>
          <a:xfrm>
            <a:off x="800000" y="450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7" name="ch"/>
          <p:cNvSpPr txBox="1"/>
          <p:nvPr/>
        </p:nvSpPr>
        <p:spPr>
          <a:xfrm>
            <a:off x="1480000" y="451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MNSI 수주·제작 흐름 맞춤</a:t>
            </a:r>
          </a:p>
        </p:txBody>
      </p:sp>
      <p:sp>
        <p:nvSpPr>
          <p:cNvPr id="128" name="cd"/>
          <p:cNvSpPr txBox="1"/>
          <p:nvPr/>
        </p:nvSpPr>
        <p:spPr>
          <a:xfrm>
            <a:off x="810000" y="518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수주→설계→구매→제작→조립→FAT→출하(P1~P6) 단계와 가중 진척·기성 정산 구조를 MNSI 실무에 맞춰 설계합니다.</a:t>
            </a:r>
          </a:p>
        </p:txBody>
      </p:sp>
      <p:sp>
        <p:nvSpPr>
          <p:cNvPr id="129" name="card"/>
          <p:cNvSpPr/>
          <p:nvPr/>
        </p:nvSpPr>
        <p:spPr>
          <a:xfrm>
            <a:off x="6330000" y="430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30" name="badge"/>
          <p:cNvSpPr/>
          <p:nvPr/>
        </p:nvSpPr>
        <p:spPr>
          <a:xfrm>
            <a:off x="6530000" y="450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1" name="ch"/>
          <p:cNvSpPr txBox="1"/>
          <p:nvPr/>
        </p:nvSpPr>
        <p:spPr>
          <a:xfrm>
            <a:off x="7210000" y="451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5</a:t>
            </a: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개월(</a:t>
            </a:r>
            <a:r>
              <a:rPr lang="en-US" alt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20</a:t>
            </a: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주) 구축 로드맵</a:t>
            </a:r>
          </a:p>
        </p:txBody>
      </p:sp>
      <p:sp>
        <p:nvSpPr>
          <p:cNvPr id="132" name="cd"/>
          <p:cNvSpPr txBox="1"/>
          <p:nvPr/>
        </p:nvSpPr>
        <p:spPr>
          <a:xfrm>
            <a:off x="6540000" y="518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분석·설계부터 핵심 메뉴 개발, LLM 연동, 통합 검증·안정화까지 5개월 밀착 일정으로 리스크를 통제합니다.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공동 제안</a:t>
            </a:r>
          </a:p>
        </p:txBody>
      </p:sp>
      <p:sp>
        <p:nvSpPr>
          <p:cNvPr id="112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AI 파트너 SYU</a:t>
            </a:r>
            <a:r>
              <a:rPr lang="en-US" alt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-PITCON</a:t>
            </a: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 공동 제안</a:t>
            </a:r>
          </a:p>
        </p:txBody>
      </p:sp>
      <p:sp>
        <p:nvSpPr>
          <p:cNvPr id="113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Joint Proposal with SYU · AI Technology Partner</a:t>
            </a:r>
          </a:p>
        </p:txBody>
      </p:sp>
      <p:sp>
        <p:nvSpPr>
          <p:cNvPr id="114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15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3</a:t>
            </a:r>
          </a:p>
        </p:txBody>
      </p:sp>
      <p:sp>
        <p:nvSpPr>
          <p:cNvPr id="116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7" name="rc"/>
          <p:cNvSpPr/>
          <p:nvPr/>
        </p:nvSpPr>
        <p:spPr>
          <a:xfrm>
            <a:off x="600000" y="1820000"/>
            <a:ext cx="3500000" cy="1000000"/>
          </a:xfrm>
          <a:prstGeom prst="roundRect">
            <a:avLst>
              <a:gd name="adj" fmla="val 6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18" name="rn"/>
          <p:cNvSpPr txBox="1"/>
          <p:nvPr/>
        </p:nvSpPr>
        <p:spPr>
          <a:xfrm>
            <a:off x="860000" y="1920000"/>
            <a:ext cx="298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MNSI</a:t>
            </a:r>
          </a:p>
        </p:txBody>
      </p:sp>
      <p:sp>
        <p:nvSpPr>
          <p:cNvPr id="119" name="rs1"/>
          <p:cNvSpPr txBox="1"/>
          <p:nvPr/>
        </p:nvSpPr>
        <p:spPr>
          <a:xfrm>
            <a:off x="860000" y="236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수주·제작 도메인</a:t>
            </a:r>
          </a:p>
        </p:txBody>
      </p:sp>
      <p:sp>
        <p:nvSpPr>
          <p:cNvPr id="120" name="rs2"/>
          <p:cNvSpPr txBox="1"/>
          <p:nvPr/>
        </p:nvSpPr>
        <p:spPr>
          <a:xfrm>
            <a:off x="860000" y="258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현업 업무 · 데이터 · 프로세스</a:t>
            </a:r>
          </a:p>
        </p:txBody>
      </p:sp>
      <p:sp>
        <p:nvSpPr>
          <p:cNvPr id="121" name="rc"/>
          <p:cNvSpPr/>
          <p:nvPr/>
        </p:nvSpPr>
        <p:spPr>
          <a:xfrm>
            <a:off x="4346000" y="1820000"/>
            <a:ext cx="3500000" cy="1000000"/>
          </a:xfrm>
          <a:prstGeom prst="roundRect">
            <a:avLst>
              <a:gd name="adj" fmla="val 6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22" name="rn"/>
          <p:cNvSpPr txBox="1"/>
          <p:nvPr/>
        </p:nvSpPr>
        <p:spPr>
          <a:xfrm>
            <a:off x="4606000" y="1920000"/>
            <a:ext cx="298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SYU</a:t>
            </a:r>
          </a:p>
        </p:txBody>
      </p:sp>
      <p:sp>
        <p:nvSpPr>
          <p:cNvPr id="123" name="rs1"/>
          <p:cNvSpPr txBox="1"/>
          <p:nvPr/>
        </p:nvSpPr>
        <p:spPr>
          <a:xfrm>
            <a:off x="4606000" y="236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LLM · OCR · AI 엔진</a:t>
            </a:r>
          </a:p>
        </p:txBody>
      </p:sp>
      <p:sp>
        <p:nvSpPr>
          <p:cNvPr id="124" name="rs2"/>
          <p:cNvSpPr txBox="1"/>
          <p:nvPr/>
        </p:nvSpPr>
        <p:spPr>
          <a:xfrm>
            <a:off x="4606000" y="258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자연어 운영 · 문서 자동화</a:t>
            </a:r>
          </a:p>
        </p:txBody>
      </p:sp>
      <p:sp>
        <p:nvSpPr>
          <p:cNvPr id="125" name="rc"/>
          <p:cNvSpPr/>
          <p:nvPr/>
        </p:nvSpPr>
        <p:spPr>
          <a:xfrm>
            <a:off x="8092000" y="1820000"/>
            <a:ext cx="3500000" cy="1000000"/>
          </a:xfrm>
          <a:prstGeom prst="roundRect">
            <a:avLst>
              <a:gd name="adj" fmla="val 6000"/>
            </a:avLst>
          </a:prstGeom>
          <a:solidFill>
            <a:srgbClr val="5E1926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26" name="rn"/>
          <p:cNvSpPr txBox="1"/>
          <p:nvPr/>
        </p:nvSpPr>
        <p:spPr>
          <a:xfrm>
            <a:off x="8352000" y="1920000"/>
            <a:ext cx="298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통합 LLM PMS</a:t>
            </a:r>
          </a:p>
        </p:txBody>
      </p:sp>
      <p:sp>
        <p:nvSpPr>
          <p:cNvPr id="127" name="rs1"/>
          <p:cNvSpPr txBox="1"/>
          <p:nvPr/>
        </p:nvSpPr>
        <p:spPr>
          <a:xfrm>
            <a:off x="8352000" y="236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AI 네이티브 PMS</a:t>
            </a:r>
          </a:p>
        </p:txBody>
      </p:sp>
      <p:sp>
        <p:nvSpPr>
          <p:cNvPr id="128" name="rs2"/>
          <p:cNvSpPr txBox="1"/>
          <p:nvPr/>
        </p:nvSpPr>
        <p:spPr>
          <a:xfrm>
            <a:off x="8352000" y="2580000"/>
            <a:ext cx="29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현업 + AI 결합 솔루션</a:t>
            </a:r>
          </a:p>
        </p:txBody>
      </p:sp>
      <p:sp>
        <p:nvSpPr>
          <p:cNvPr id="129" name="sym"/>
          <p:cNvSpPr txBox="1"/>
          <p:nvPr/>
        </p:nvSpPr>
        <p:spPr>
          <a:xfrm>
            <a:off x="4196000" y="2120000"/>
            <a:ext cx="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+</a:t>
            </a:r>
          </a:p>
        </p:txBody>
      </p:sp>
      <p:sp>
        <p:nvSpPr>
          <p:cNvPr id="130" name="sym"/>
          <p:cNvSpPr txBox="1"/>
          <p:nvPr/>
        </p:nvSpPr>
        <p:spPr>
          <a:xfrm>
            <a:off x="7942000" y="2120000"/>
            <a:ext cx="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=</a:t>
            </a:r>
          </a:p>
        </p:txBody>
      </p:sp>
      <p:sp>
        <p:nvSpPr>
          <p:cNvPr id="131" name="sp"/>
          <p:cNvSpPr/>
          <p:nvPr/>
        </p:nvSpPr>
        <p:spPr>
          <a:xfrm>
            <a:off x="600000" y="2980000"/>
            <a:ext cx="5400000" cy="198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32" name="st"/>
          <p:cNvSpPr txBox="1"/>
          <p:nvPr/>
        </p:nvSpPr>
        <p:spPr>
          <a:xfrm>
            <a:off x="900000" y="3140000"/>
            <a:ext cx="4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에스와이유 (SYU)</a:t>
            </a:r>
          </a:p>
        </p:txBody>
      </p:sp>
      <p:sp>
        <p:nvSpPr>
          <p:cNvPr id="133" name="ss"/>
          <p:cNvSpPr txBox="1"/>
          <p:nvPr/>
        </p:nvSpPr>
        <p:spPr>
          <a:xfrm>
            <a:off x="900000" y="347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AI 전문기업 · 대표 신정환</a:t>
            </a:r>
          </a:p>
        </p:txBody>
      </p:sp>
      <p:sp>
        <p:nvSpPr>
          <p:cNvPr id="134" name="fm"/>
          <p:cNvSpPr/>
          <p:nvPr/>
        </p:nvSpPr>
        <p:spPr>
          <a:xfrm>
            <a:off x="900000" y="3860000"/>
            <a:ext cx="120000" cy="12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5" name="ft"/>
          <p:cNvSpPr txBox="1"/>
          <p:nvPr/>
        </p:nvSpPr>
        <p:spPr>
          <a:xfrm>
            <a:off x="1120000" y="3820000"/>
            <a:ext cx="4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NLP 기반 데이터 인식 + ERP 연동 RPA 엔진 보유</a:t>
            </a:r>
          </a:p>
        </p:txBody>
      </p:sp>
      <p:sp>
        <p:nvSpPr>
          <p:cNvPr id="136" name="fm"/>
          <p:cNvSpPr/>
          <p:nvPr/>
        </p:nvSpPr>
        <p:spPr>
          <a:xfrm>
            <a:off x="900000" y="4150000"/>
            <a:ext cx="120000" cy="12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7" name="ft"/>
          <p:cNvSpPr txBox="1"/>
          <p:nvPr/>
        </p:nvSpPr>
        <p:spPr>
          <a:xfrm>
            <a:off x="1120000" y="4110000"/>
            <a:ext cx="4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중기부 ‘벤처기업 혁신성장 유형’ 선정</a:t>
            </a:r>
          </a:p>
        </p:txBody>
      </p:sp>
      <p:sp>
        <p:nvSpPr>
          <p:cNvPr id="138" name="fm"/>
          <p:cNvSpPr/>
          <p:nvPr/>
        </p:nvSpPr>
        <p:spPr>
          <a:xfrm>
            <a:off x="900000" y="4440000"/>
            <a:ext cx="120000" cy="12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9" name="ft"/>
          <p:cNvSpPr txBox="1"/>
          <p:nvPr/>
        </p:nvSpPr>
        <p:spPr>
          <a:xfrm>
            <a:off x="1120000" y="4400000"/>
            <a:ext cx="4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ISO 9001·14001·27001 인증, 특허 5건·저작권 3건</a:t>
            </a:r>
          </a:p>
        </p:txBody>
      </p:sp>
      <p:sp>
        <p:nvSpPr>
          <p:cNvPr id="140" name="fm"/>
          <p:cNvSpPr/>
          <p:nvPr/>
        </p:nvSpPr>
        <p:spPr>
          <a:xfrm>
            <a:off x="900000" y="4730000"/>
            <a:ext cx="120000" cy="12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1" name="ft"/>
          <p:cNvSpPr txBox="1"/>
          <p:nvPr/>
        </p:nvSpPr>
        <p:spPr>
          <a:xfrm>
            <a:off x="1120000" y="4690000"/>
            <a:ext cx="4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2025 부산시장표창 (AI 선도기업)</a:t>
            </a:r>
          </a:p>
        </p:txBody>
      </p:sp>
      <p:sp>
        <p:nvSpPr>
          <p:cNvPr id="142" name="sh"/>
          <p:cNvSpPr txBox="1"/>
          <p:nvPr/>
        </p:nvSpPr>
        <p:spPr>
          <a:xfrm>
            <a:off x="6230000" y="2980000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주요 솔루션 &amp; 역량</a:t>
            </a:r>
          </a:p>
        </p:txBody>
      </p:sp>
      <p:sp>
        <p:nvSpPr>
          <p:cNvPr id="143" name="sc"/>
          <p:cNvSpPr/>
          <p:nvPr/>
        </p:nvSpPr>
        <p:spPr>
          <a:xfrm>
            <a:off x="6230000" y="3360000"/>
            <a:ext cx="5360000" cy="360000"/>
          </a:xfrm>
          <a:prstGeom prst="roundRect">
            <a:avLst>
              <a:gd name="adj" fmla="val 12000"/>
            </a:avLst>
          </a:prstGeom>
          <a:solidFill>
            <a:srgbClr val="F6F2F1"/>
          </a:solidFill>
          <a:ln>
            <a:solidFill>
              <a:srgbClr val="EEEAE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44" name="scn"/>
          <p:cNvSpPr txBox="1"/>
          <p:nvPr/>
        </p:nvSpPr>
        <p:spPr>
          <a:xfrm>
            <a:off x="6420000" y="3360000"/>
            <a:ext cx="19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AI 구매 자동화</a:t>
            </a:r>
          </a:p>
        </p:txBody>
      </p:sp>
      <p:sp>
        <p:nvSpPr>
          <p:cNvPr id="145" name="scd"/>
          <p:cNvSpPr txBox="1"/>
          <p:nvPr/>
        </p:nvSpPr>
        <p:spPr>
          <a:xfrm>
            <a:off x="8350000" y="3360000"/>
            <a:ext cx="31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비정형 채널 업무지시 → 자동 입력·보고</a:t>
            </a:r>
          </a:p>
        </p:txBody>
      </p:sp>
      <p:sp>
        <p:nvSpPr>
          <p:cNvPr id="146" name="sc"/>
          <p:cNvSpPr/>
          <p:nvPr/>
        </p:nvSpPr>
        <p:spPr>
          <a:xfrm>
            <a:off x="6230000" y="3770000"/>
            <a:ext cx="5360000" cy="360000"/>
          </a:xfrm>
          <a:prstGeom prst="roundRect">
            <a:avLst>
              <a:gd name="adj" fmla="val 12000"/>
            </a:avLst>
          </a:prstGeom>
          <a:solidFill>
            <a:srgbClr val="F6F2F1"/>
          </a:solidFill>
          <a:ln>
            <a:solidFill>
              <a:srgbClr val="EEEAE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47" name="scn"/>
          <p:cNvSpPr txBox="1"/>
          <p:nvPr/>
        </p:nvSpPr>
        <p:spPr>
          <a:xfrm>
            <a:off x="6420000" y="3770000"/>
            <a:ext cx="19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제안관리 시스템</a:t>
            </a:r>
          </a:p>
        </p:txBody>
      </p:sp>
      <p:sp>
        <p:nvSpPr>
          <p:cNvPr id="148" name="scd"/>
          <p:cNvSpPr txBox="1"/>
          <p:nvPr/>
        </p:nvSpPr>
        <p:spPr>
          <a:xfrm>
            <a:off x="8350000" y="3770000"/>
            <a:ext cx="31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제안→심사→포상, 그룹웨어 전자결재 연동</a:t>
            </a:r>
          </a:p>
        </p:txBody>
      </p:sp>
      <p:sp>
        <p:nvSpPr>
          <p:cNvPr id="149" name="sc"/>
          <p:cNvSpPr/>
          <p:nvPr/>
        </p:nvSpPr>
        <p:spPr>
          <a:xfrm>
            <a:off x="6230000" y="4180000"/>
            <a:ext cx="5360000" cy="360000"/>
          </a:xfrm>
          <a:prstGeom prst="roundRect">
            <a:avLst>
              <a:gd name="adj" fmla="val 12000"/>
            </a:avLst>
          </a:prstGeom>
          <a:solidFill>
            <a:srgbClr val="F6F2F1"/>
          </a:solidFill>
          <a:ln>
            <a:solidFill>
              <a:srgbClr val="EEEAE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0" name="scn"/>
          <p:cNvSpPr txBox="1"/>
          <p:nvPr/>
        </p:nvSpPr>
        <p:spPr>
          <a:xfrm>
            <a:off x="6420000" y="4180000"/>
            <a:ext cx="19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ERP AI 분석</a:t>
            </a:r>
          </a:p>
        </p:txBody>
      </p:sp>
      <p:sp>
        <p:nvSpPr>
          <p:cNvPr id="151" name="scd"/>
          <p:cNvSpPr txBox="1"/>
          <p:nvPr/>
        </p:nvSpPr>
        <p:spPr>
          <a:xfrm>
            <a:off x="8350000" y="4180000"/>
            <a:ext cx="31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자연어 기반 ERP 데이터 조회·분석</a:t>
            </a:r>
          </a:p>
        </p:txBody>
      </p:sp>
      <p:sp>
        <p:nvSpPr>
          <p:cNvPr id="152" name="sc"/>
          <p:cNvSpPr/>
          <p:nvPr/>
        </p:nvSpPr>
        <p:spPr>
          <a:xfrm>
            <a:off x="6230000" y="4590000"/>
            <a:ext cx="5360000" cy="360000"/>
          </a:xfrm>
          <a:prstGeom prst="roundRect">
            <a:avLst>
              <a:gd name="adj" fmla="val 12000"/>
            </a:avLst>
          </a:prstGeom>
          <a:solidFill>
            <a:srgbClr val="F6F2F1"/>
          </a:solidFill>
          <a:ln>
            <a:solidFill>
              <a:srgbClr val="EEEAE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3" name="scn"/>
          <p:cNvSpPr txBox="1"/>
          <p:nvPr/>
        </p:nvSpPr>
        <p:spPr>
          <a:xfrm>
            <a:off x="6420000" y="4590000"/>
            <a:ext cx="19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ERIGO</a:t>
            </a:r>
          </a:p>
        </p:txBody>
      </p:sp>
      <p:sp>
        <p:nvSpPr>
          <p:cNvPr id="154" name="scd"/>
          <p:cNvSpPr txBox="1"/>
          <p:nvPr/>
        </p:nvSpPr>
        <p:spPr>
          <a:xfrm>
            <a:off x="8350000" y="4590000"/>
            <a:ext cx="31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ERP-native AI 운영자동화 플랫폼</a:t>
            </a:r>
          </a:p>
        </p:txBody>
      </p:sp>
      <p:sp>
        <p:nvSpPr>
          <p:cNvPr id="155" name="co"/>
          <p:cNvSpPr/>
          <p:nvPr/>
        </p:nvSpPr>
        <p:spPr>
          <a:xfrm>
            <a:off x="600000" y="5080000"/>
            <a:ext cx="10992000" cy="7200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56" name="cot"/>
          <p:cNvSpPr txBox="1"/>
          <p:nvPr/>
        </p:nvSpPr>
        <p:spPr>
          <a:xfrm>
            <a:off x="900000" y="5080000"/>
            <a:ext cx="1040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검증된 더존 연동 경험 — </a:t>
            </a:r>
            <a:r>
              <a:rPr lang="ko-KR" sz="115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SYU</a:t>
            </a:r>
            <a:r>
              <a:rPr lang="en-US" altLang="ko-KR" sz="115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-PITCON</a:t>
            </a:r>
            <a:r>
              <a:rPr lang="ko-KR" altLang="en-US" sz="115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은</a:t>
            </a:r>
            <a:r>
              <a:rPr lang="ko-KR" sz="115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 더존 그룹웨어 전자결재 자동상신·FI 전표 자동입력을 이미 구현하여, 본 제안의 더존 아마란스 회계·HR 연동을 안정적으로 수행합니다.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4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핵심 차별화</a:t>
            </a:r>
          </a:p>
        </p:txBody>
      </p:sp>
      <p:sp>
        <p:nvSpPr>
          <p:cNvPr id="135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자연어 명령으로 입력하고, 변경한다</a:t>
            </a:r>
          </a:p>
        </p:txBody>
      </p:sp>
      <p:sp>
        <p:nvSpPr>
          <p:cNvPr id="136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LLM-Native Data Entry &amp; Change Management</a:t>
            </a:r>
          </a:p>
        </p:txBody>
      </p:sp>
      <p:sp>
        <p:nvSpPr>
          <p:cNvPr id="137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38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4</a:t>
            </a:r>
          </a:p>
        </p:txBody>
      </p:sp>
      <p:sp>
        <p:nvSpPr>
          <p:cNvPr id="139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0" name="cmdbar"/>
          <p:cNvSpPr/>
          <p:nvPr/>
        </p:nvSpPr>
        <p:spPr>
          <a:xfrm>
            <a:off x="600000" y="1900000"/>
            <a:ext cx="10992000" cy="560000"/>
          </a:xfrm>
          <a:prstGeom prst="roundRect">
            <a:avLst>
              <a:gd name="adj" fmla="val 14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41" name="cmdtxt"/>
          <p:cNvSpPr txBox="1"/>
          <p:nvPr/>
        </p:nvSpPr>
        <p:spPr>
          <a:xfrm>
            <a:off x="880000" y="1900000"/>
            <a:ext cx="10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명령  ▸   </a:t>
            </a:r>
            <a:r>
              <a:rPr lang="ko-KR" sz="125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“조립공정 실적 7% 처리해줘”   ·   “1회차 기성 1000만원 청구로 등록해줘”</a:t>
            </a:r>
          </a:p>
        </p:txBody>
      </p:sp>
      <p:sp>
        <p:nvSpPr>
          <p:cNvPr id="142" name="excard"/>
          <p:cNvSpPr/>
          <p:nvPr/>
        </p:nvSpPr>
        <p:spPr>
          <a:xfrm>
            <a:off x="600000" y="2640000"/>
            <a:ext cx="3197334" cy="20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43" name="extag"/>
          <p:cNvSpPr/>
          <p:nvPr/>
        </p:nvSpPr>
        <p:spPr>
          <a:xfrm>
            <a:off x="860000" y="2860000"/>
            <a:ext cx="1500000" cy="420000"/>
          </a:xfrm>
          <a:prstGeom prst="roundRect">
            <a:avLst>
              <a:gd name="adj" fmla="val 26000"/>
            </a:avLst>
          </a:prstGeom>
          <a:solidFill>
            <a:srgbClr val="7A2033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진척 갱신</a:t>
            </a:r>
          </a:p>
        </p:txBody>
      </p:sp>
      <p:sp>
        <p:nvSpPr>
          <p:cNvPr id="144" name="excmd"/>
          <p:cNvSpPr txBox="1"/>
          <p:nvPr/>
        </p:nvSpPr>
        <p:spPr>
          <a:xfrm>
            <a:off x="860000" y="342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“제작/가공 실적 6%로 올려줘”</a:t>
            </a:r>
          </a:p>
        </p:txBody>
      </p:sp>
      <p:sp>
        <p:nvSpPr>
          <p:cNvPr id="145" name="exres"/>
          <p:cNvSpPr txBox="1"/>
          <p:nvPr/>
        </p:nvSpPr>
        <p:spPr>
          <a:xfrm>
            <a:off x="860000" y="406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해당 단계 실적을 6%로 자동 갱신하고 전체 가중 진척률을 재계산합니다.</a:t>
            </a:r>
          </a:p>
        </p:txBody>
      </p:sp>
      <p:sp>
        <p:nvSpPr>
          <p:cNvPr id="146" name="excard"/>
          <p:cNvSpPr/>
          <p:nvPr/>
        </p:nvSpPr>
        <p:spPr>
          <a:xfrm>
            <a:off x="4197333" y="2640000"/>
            <a:ext cx="3197334" cy="20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47" name="extag"/>
          <p:cNvSpPr/>
          <p:nvPr/>
        </p:nvSpPr>
        <p:spPr>
          <a:xfrm>
            <a:off x="4457333" y="2860000"/>
            <a:ext cx="1500000" cy="420000"/>
          </a:xfrm>
          <a:prstGeom prst="roundRect">
            <a:avLst>
              <a:gd name="adj" fmla="val 26000"/>
            </a:avLst>
          </a:prstGeom>
          <a:solidFill>
            <a:srgbClr val="7A2033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발주 생성</a:t>
            </a:r>
          </a:p>
        </p:txBody>
      </p:sp>
      <p:sp>
        <p:nvSpPr>
          <p:cNvPr id="148" name="excmd"/>
          <p:cNvSpPr txBox="1"/>
          <p:nvPr/>
        </p:nvSpPr>
        <p:spPr>
          <a:xfrm>
            <a:off x="4457333" y="342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“NEA 압축기 본체 1.8억 발주”</a:t>
            </a:r>
          </a:p>
        </p:txBody>
      </p:sp>
      <p:sp>
        <p:nvSpPr>
          <p:cNvPr id="149" name="exres"/>
          <p:cNvSpPr txBox="1"/>
          <p:nvPr/>
        </p:nvSpPr>
        <p:spPr>
          <a:xfrm>
            <a:off x="4457333" y="406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품목·단가·리드타임을 해석해 기자재 발주 1건을 즉시 생성합니다.</a:t>
            </a:r>
          </a:p>
        </p:txBody>
      </p:sp>
      <p:sp>
        <p:nvSpPr>
          <p:cNvPr id="150" name="excard"/>
          <p:cNvSpPr/>
          <p:nvPr/>
        </p:nvSpPr>
        <p:spPr>
          <a:xfrm>
            <a:off x="7794666" y="2640000"/>
            <a:ext cx="3197334" cy="20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51" name="extag"/>
          <p:cNvSpPr/>
          <p:nvPr/>
        </p:nvSpPr>
        <p:spPr>
          <a:xfrm>
            <a:off x="8054666" y="2860000"/>
            <a:ext cx="1500000" cy="420000"/>
          </a:xfrm>
          <a:prstGeom prst="roundRect">
            <a:avLst>
              <a:gd name="adj" fmla="val 26000"/>
            </a:avLst>
          </a:prstGeom>
          <a:solidFill>
            <a:srgbClr val="7A2033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기성 청구</a:t>
            </a:r>
          </a:p>
        </p:txBody>
      </p:sp>
      <p:sp>
        <p:nvSpPr>
          <p:cNvPr id="152" name="excmd"/>
          <p:cNvSpPr txBox="1"/>
          <p:nvPr/>
        </p:nvSpPr>
        <p:spPr>
          <a:xfrm>
            <a:off x="8054666" y="342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“1회차 기성 1000만원 청구”</a:t>
            </a:r>
          </a:p>
        </p:txBody>
      </p:sp>
      <p:sp>
        <p:nvSpPr>
          <p:cNvPr id="153" name="exres"/>
          <p:cNvSpPr txBox="1"/>
          <p:nvPr/>
        </p:nvSpPr>
        <p:spPr>
          <a:xfrm>
            <a:off x="8054666" y="4060000"/>
            <a:ext cx="2677334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대금 회차를 생성하고 유보·선급 정산·실수금을 자동 계산합니다.</a:t>
            </a:r>
          </a:p>
        </p:txBody>
      </p:sp>
      <p:sp>
        <p:nvSpPr>
          <p:cNvPr id="154" name="callout"/>
          <p:cNvSpPr/>
          <p:nvPr/>
        </p:nvSpPr>
        <p:spPr>
          <a:xfrm>
            <a:off x="600000" y="4870000"/>
            <a:ext cx="10992000" cy="8200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55" name="callouttxt"/>
          <p:cNvSpPr txBox="1"/>
          <p:nvPr/>
        </p:nvSpPr>
        <p:spPr>
          <a:xfrm>
            <a:off x="900000" y="4870000"/>
            <a:ext cx="10400000" cy="8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메뉴를 일일이 찾지 않아도 됩니다.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LLM이 의도를 해석해 정확한 메뉴·필드에 반영하고, 모든 입력·변경은 미리보기 확인 후 감사 로그로 추적됩니다.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7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핵심 차별화</a:t>
            </a:r>
          </a:p>
        </p:txBody>
      </p:sp>
      <p:sp>
        <p:nvSpPr>
          <p:cNvPr id="158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자연어 명령 처리 프로세스</a:t>
            </a:r>
          </a:p>
        </p:txBody>
      </p:sp>
      <p:sp>
        <p:nvSpPr>
          <p:cNvPr id="159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Natural-Language Processing Pipeline</a:t>
            </a:r>
          </a:p>
        </p:txBody>
      </p:sp>
      <p:sp>
        <p:nvSpPr>
          <p:cNvPr id="160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61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5</a:t>
            </a:r>
          </a:p>
        </p:txBody>
      </p:sp>
      <p:sp>
        <p:nvSpPr>
          <p:cNvPr id="162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3" name="stepcard"/>
          <p:cNvSpPr/>
          <p:nvPr/>
        </p:nvSpPr>
        <p:spPr>
          <a:xfrm>
            <a:off x="6000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64" name="stepbadge"/>
          <p:cNvSpPr/>
          <p:nvPr/>
        </p:nvSpPr>
        <p:spPr>
          <a:xfrm>
            <a:off x="8800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01</a:t>
            </a:r>
          </a:p>
        </p:txBody>
      </p:sp>
      <p:sp>
        <p:nvSpPr>
          <p:cNvPr id="165" name="stext"/>
          <p:cNvSpPr txBox="1"/>
          <p:nvPr/>
        </p:nvSpPr>
        <p:spPr>
          <a:xfrm>
            <a:off x="6600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자연어 명령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66" name="arr"/>
          <p:cNvSpPr/>
          <p:nvPr/>
        </p:nvSpPr>
        <p:spPr>
          <a:xfrm>
            <a:off x="2235200" y="3505000"/>
            <a:ext cx="240000" cy="24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7" name="stepcard"/>
          <p:cNvSpPr/>
          <p:nvPr/>
        </p:nvSpPr>
        <p:spPr>
          <a:xfrm>
            <a:off x="24704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68" name="stepbadge"/>
          <p:cNvSpPr/>
          <p:nvPr/>
        </p:nvSpPr>
        <p:spPr>
          <a:xfrm>
            <a:off x="27504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02</a:t>
            </a:r>
          </a:p>
        </p:txBody>
      </p:sp>
      <p:sp>
        <p:nvSpPr>
          <p:cNvPr id="169" name="stext"/>
          <p:cNvSpPr txBox="1"/>
          <p:nvPr/>
        </p:nvSpPr>
        <p:spPr>
          <a:xfrm>
            <a:off x="25304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의도·엔티티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해석 (LLM)</a:t>
            </a:r>
          </a:p>
        </p:txBody>
      </p:sp>
      <p:sp>
        <p:nvSpPr>
          <p:cNvPr id="170" name="arr"/>
          <p:cNvSpPr/>
          <p:nvPr/>
        </p:nvSpPr>
        <p:spPr>
          <a:xfrm>
            <a:off x="4105600" y="3505000"/>
            <a:ext cx="240000" cy="24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71" name="stepcard"/>
          <p:cNvSpPr/>
          <p:nvPr/>
        </p:nvSpPr>
        <p:spPr>
          <a:xfrm>
            <a:off x="43408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72" name="stepbadge"/>
          <p:cNvSpPr/>
          <p:nvPr/>
        </p:nvSpPr>
        <p:spPr>
          <a:xfrm>
            <a:off x="46208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03</a:t>
            </a:r>
          </a:p>
        </p:txBody>
      </p:sp>
      <p:sp>
        <p:nvSpPr>
          <p:cNvPr id="173" name="stext"/>
          <p:cNvSpPr txBox="1"/>
          <p:nvPr/>
        </p:nvSpPr>
        <p:spPr>
          <a:xfrm>
            <a:off x="44008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대상 메뉴·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필드 매핑</a:t>
            </a:r>
          </a:p>
        </p:txBody>
      </p:sp>
      <p:sp>
        <p:nvSpPr>
          <p:cNvPr id="174" name="arr"/>
          <p:cNvSpPr/>
          <p:nvPr/>
        </p:nvSpPr>
        <p:spPr>
          <a:xfrm>
            <a:off x="5976000" y="3505000"/>
            <a:ext cx="240000" cy="24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75" name="stepcard"/>
          <p:cNvSpPr/>
          <p:nvPr/>
        </p:nvSpPr>
        <p:spPr>
          <a:xfrm>
            <a:off x="62112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76" name="stepbadge"/>
          <p:cNvSpPr/>
          <p:nvPr/>
        </p:nvSpPr>
        <p:spPr>
          <a:xfrm>
            <a:off x="64912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04</a:t>
            </a:r>
          </a:p>
        </p:txBody>
      </p:sp>
      <p:sp>
        <p:nvSpPr>
          <p:cNvPr id="177" name="stext"/>
          <p:cNvSpPr txBox="1"/>
          <p:nvPr/>
        </p:nvSpPr>
        <p:spPr>
          <a:xfrm>
            <a:off x="62712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값 검증 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미리보기</a:t>
            </a:r>
          </a:p>
        </p:txBody>
      </p:sp>
      <p:sp>
        <p:nvSpPr>
          <p:cNvPr id="178" name="arr"/>
          <p:cNvSpPr/>
          <p:nvPr/>
        </p:nvSpPr>
        <p:spPr>
          <a:xfrm>
            <a:off x="7846400" y="3505000"/>
            <a:ext cx="240000" cy="24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79" name="stepcard"/>
          <p:cNvSpPr/>
          <p:nvPr/>
        </p:nvSpPr>
        <p:spPr>
          <a:xfrm>
            <a:off x="80816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0" name="stepbadge"/>
          <p:cNvSpPr/>
          <p:nvPr/>
        </p:nvSpPr>
        <p:spPr>
          <a:xfrm>
            <a:off x="83616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05</a:t>
            </a:r>
          </a:p>
        </p:txBody>
      </p:sp>
      <p:sp>
        <p:nvSpPr>
          <p:cNvPr id="181" name="stext"/>
          <p:cNvSpPr txBox="1"/>
          <p:nvPr/>
        </p:nvSpPr>
        <p:spPr>
          <a:xfrm>
            <a:off x="81416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DB 반영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(입력·변경)</a:t>
            </a:r>
          </a:p>
        </p:txBody>
      </p:sp>
      <p:sp>
        <p:nvSpPr>
          <p:cNvPr id="182" name="arr"/>
          <p:cNvSpPr/>
          <p:nvPr/>
        </p:nvSpPr>
        <p:spPr>
          <a:xfrm>
            <a:off x="9716800" y="3505000"/>
            <a:ext cx="240000" cy="24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3" name="stepcard"/>
          <p:cNvSpPr/>
          <p:nvPr/>
        </p:nvSpPr>
        <p:spPr>
          <a:xfrm>
            <a:off x="9952000" y="2750000"/>
            <a:ext cx="1640000" cy="1700000"/>
          </a:xfrm>
          <a:prstGeom prst="roundRect">
            <a:avLst>
              <a:gd name="adj" fmla="val 3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4" name="stepbadge"/>
          <p:cNvSpPr/>
          <p:nvPr/>
        </p:nvSpPr>
        <p:spPr>
          <a:xfrm>
            <a:off x="10232000" y="2500000"/>
            <a:ext cx="1080000" cy="560000"/>
          </a:xfrm>
          <a:prstGeom prst="roundRect">
            <a:avLst>
              <a:gd name="adj" fmla="val 22000"/>
            </a:avLst>
          </a:prstGeom>
          <a:solidFill>
            <a:srgbClr val="7A2033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STEP 06</a:t>
            </a:r>
          </a:p>
        </p:txBody>
      </p:sp>
      <p:sp>
        <p:nvSpPr>
          <p:cNvPr id="185" name="stext"/>
          <p:cNvSpPr txBox="1"/>
          <p:nvPr/>
        </p:nvSpPr>
        <p:spPr>
          <a:xfrm>
            <a:off x="10012000" y="3180000"/>
            <a:ext cx="1520000" cy="11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활동 로그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감사 기록</a:t>
            </a:r>
          </a:p>
        </p:txBody>
      </p:sp>
      <p:sp>
        <p:nvSpPr>
          <p:cNvPr id="186" name="cap"/>
          <p:cNvSpPr txBox="1"/>
          <p:nvPr/>
        </p:nvSpPr>
        <p:spPr>
          <a:xfrm>
            <a:off x="600000" y="4640000"/>
            <a:ext cx="10992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i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사용자 확인(미리보기) 단계를 거쳐 안전하게 반영하며, 모든 입력·변경 이력은 자동으로 감사 로그에 적재됩니다.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8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입력·반영 체계</a:t>
            </a:r>
          </a:p>
        </p:txBody>
      </p:sp>
      <p:sp>
        <p:nvSpPr>
          <p:cNvPr id="189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모바일·PC 간편 입력, ERP 반영은 PC 확인 후</a:t>
            </a:r>
          </a:p>
        </p:txBody>
      </p:sp>
      <p:sp>
        <p:nvSpPr>
          <p:cNvPr id="190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Mobile/PC Easy Input · PC-Confirmed ERP Commit</a:t>
            </a:r>
          </a:p>
        </p:txBody>
      </p:sp>
      <p:sp>
        <p:nvSpPr>
          <p:cNvPr id="191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92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6</a:t>
            </a:r>
          </a:p>
        </p:txBody>
      </p:sp>
      <p:sp>
        <p:nvSpPr>
          <p:cNvPr id="193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4" name="gcard"/>
          <p:cNvSpPr/>
          <p:nvPr/>
        </p:nvSpPr>
        <p:spPr>
          <a:xfrm>
            <a:off x="600000" y="2120000"/>
            <a:ext cx="2480000" cy="272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95" name="gbadge"/>
          <p:cNvSpPr/>
          <p:nvPr/>
        </p:nvSpPr>
        <p:spPr>
          <a:xfrm>
            <a:off x="1090000" y="2320000"/>
            <a:ext cx="1500000" cy="440000"/>
          </a:xfrm>
          <a:prstGeom prst="roundRect">
            <a:avLst>
              <a:gd name="adj" fmla="val 24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196" name="gtitle"/>
          <p:cNvSpPr txBox="1"/>
          <p:nvPr/>
        </p:nvSpPr>
        <p:spPr>
          <a:xfrm>
            <a:off x="740000" y="2900000"/>
            <a:ext cx="22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자연어 간편 입력</a:t>
            </a:r>
          </a:p>
        </p:txBody>
      </p:sp>
      <p:sp>
        <p:nvSpPr>
          <p:cNvPr id="197" name="gdesc"/>
          <p:cNvSpPr txBox="1"/>
          <p:nvPr/>
        </p:nvSpPr>
        <p:spPr>
          <a:xfrm>
            <a:off x="760000" y="3540000"/>
            <a:ext cx="21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현장·이동 중에는 모바일,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사무실에서는 PC로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한 줄 명령 입력</a:t>
            </a:r>
          </a:p>
        </p:txBody>
      </p:sp>
      <p:sp>
        <p:nvSpPr>
          <p:cNvPr id="198" name="garr"/>
          <p:cNvSpPr/>
          <p:nvPr/>
        </p:nvSpPr>
        <p:spPr>
          <a:xfrm>
            <a:off x="3128500" y="3350000"/>
            <a:ext cx="260000" cy="26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9" name="gcard"/>
          <p:cNvSpPr/>
          <p:nvPr/>
        </p:nvSpPr>
        <p:spPr>
          <a:xfrm>
            <a:off x="3437000" y="2120000"/>
            <a:ext cx="2480000" cy="272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0" name="gbadge"/>
          <p:cNvSpPr/>
          <p:nvPr/>
        </p:nvSpPr>
        <p:spPr>
          <a:xfrm>
            <a:off x="3927000" y="2320000"/>
            <a:ext cx="1500000" cy="440000"/>
          </a:xfrm>
          <a:prstGeom prst="roundRect">
            <a:avLst>
              <a:gd name="adj" fmla="val 24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201" name="gtitle"/>
          <p:cNvSpPr txBox="1"/>
          <p:nvPr/>
        </p:nvSpPr>
        <p:spPr>
          <a:xfrm>
            <a:off x="3577000" y="2900000"/>
            <a:ext cx="22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LLM 해석·미리보기</a:t>
            </a:r>
          </a:p>
        </p:txBody>
      </p:sp>
      <p:sp>
        <p:nvSpPr>
          <p:cNvPr id="202" name="gdesc"/>
          <p:cNvSpPr txBox="1"/>
          <p:nvPr/>
        </p:nvSpPr>
        <p:spPr>
          <a:xfrm>
            <a:off x="3597000" y="3540000"/>
            <a:ext cx="21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의도·수치를 해석해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ERP에 반영될 내용을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미리보기로 생성</a:t>
            </a:r>
          </a:p>
        </p:txBody>
      </p:sp>
      <p:sp>
        <p:nvSpPr>
          <p:cNvPr id="203" name="garr"/>
          <p:cNvSpPr/>
          <p:nvPr/>
        </p:nvSpPr>
        <p:spPr>
          <a:xfrm>
            <a:off x="5965500" y="3350000"/>
            <a:ext cx="260000" cy="26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4" name="gcard"/>
          <p:cNvSpPr/>
          <p:nvPr/>
        </p:nvSpPr>
        <p:spPr>
          <a:xfrm>
            <a:off x="6274000" y="2120000"/>
            <a:ext cx="2480000" cy="2720000"/>
          </a:xfrm>
          <a:prstGeom prst="roundRect">
            <a:avLst>
              <a:gd name="adj" fmla="val 5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5" name="gbadge"/>
          <p:cNvSpPr/>
          <p:nvPr/>
        </p:nvSpPr>
        <p:spPr>
          <a:xfrm>
            <a:off x="6664000" y="2320000"/>
            <a:ext cx="1700000" cy="440000"/>
          </a:xfrm>
          <a:prstGeom prst="roundRect">
            <a:avLst>
              <a:gd name="adj" fmla="val 24000"/>
            </a:avLst>
          </a:prstGeom>
          <a:solidFill>
            <a:srgbClr val="7A2033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PC 확인 필수</a:t>
            </a:r>
          </a:p>
        </p:txBody>
      </p:sp>
      <p:sp>
        <p:nvSpPr>
          <p:cNvPr id="206" name="gtitle"/>
          <p:cNvSpPr txBox="1"/>
          <p:nvPr/>
        </p:nvSpPr>
        <p:spPr>
          <a:xfrm>
            <a:off x="6414000" y="2900000"/>
            <a:ext cx="22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사용자 확인·승인</a:t>
            </a:r>
          </a:p>
        </p:txBody>
      </p:sp>
      <p:sp>
        <p:nvSpPr>
          <p:cNvPr id="207" name="gdesc"/>
          <p:cNvSpPr txBox="1"/>
          <p:nvPr/>
        </p:nvSpPr>
        <p:spPr>
          <a:xfrm>
            <a:off x="6434000" y="3540000"/>
            <a:ext cx="21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PC에서 반영 내용을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확인·승인해야만 진행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(모바일 단독 반영 불가)</a:t>
            </a:r>
          </a:p>
        </p:txBody>
      </p:sp>
      <p:sp>
        <p:nvSpPr>
          <p:cNvPr id="208" name="garr"/>
          <p:cNvSpPr/>
          <p:nvPr/>
        </p:nvSpPr>
        <p:spPr>
          <a:xfrm>
            <a:off x="8802500" y="3350000"/>
            <a:ext cx="260000" cy="26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9" name="gcard"/>
          <p:cNvSpPr/>
          <p:nvPr/>
        </p:nvSpPr>
        <p:spPr>
          <a:xfrm>
            <a:off x="9111000" y="2120000"/>
            <a:ext cx="2480000" cy="272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10" name="gbadge"/>
          <p:cNvSpPr/>
          <p:nvPr/>
        </p:nvSpPr>
        <p:spPr>
          <a:xfrm>
            <a:off x="9601000" y="2320000"/>
            <a:ext cx="1500000" cy="440000"/>
          </a:xfrm>
          <a:prstGeom prst="roundRect">
            <a:avLst>
              <a:gd name="adj" fmla="val 24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STEP 4</a:t>
            </a:r>
          </a:p>
        </p:txBody>
      </p:sp>
      <p:sp>
        <p:nvSpPr>
          <p:cNvPr id="211" name="gtitle"/>
          <p:cNvSpPr txBox="1"/>
          <p:nvPr/>
        </p:nvSpPr>
        <p:spPr>
          <a:xfrm>
            <a:off x="9251000" y="2900000"/>
            <a:ext cx="22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ERP 입력·변경 반영</a:t>
            </a:r>
          </a:p>
        </p:txBody>
      </p:sp>
      <p:sp>
        <p:nvSpPr>
          <p:cNvPr id="212" name="gdesc"/>
          <p:cNvSpPr txBox="1"/>
          <p:nvPr/>
        </p:nvSpPr>
        <p:spPr>
          <a:xfrm>
            <a:off x="9271000" y="3540000"/>
            <a:ext cx="21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확인·승인된 내용만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ERP에 안전하게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입력·변경 반영</a:t>
            </a:r>
          </a:p>
        </p:txBody>
      </p:sp>
      <p:sp>
        <p:nvSpPr>
          <p:cNvPr id="213" name="chip"/>
          <p:cNvSpPr/>
          <p:nvPr/>
        </p:nvSpPr>
        <p:spPr>
          <a:xfrm>
            <a:off x="960000" y="4100000"/>
            <a:ext cx="820000" cy="360000"/>
          </a:xfrm>
          <a:prstGeom prst="roundRect">
            <a:avLst>
              <a:gd name="adj" fmla="val 30000"/>
            </a:avLst>
          </a:prstGeom>
          <a:solidFill>
            <a:srgbClr val="5E1926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모바일</a:t>
            </a:r>
          </a:p>
        </p:txBody>
      </p:sp>
      <p:sp>
        <p:nvSpPr>
          <p:cNvPr id="214" name="chip"/>
          <p:cNvSpPr/>
          <p:nvPr/>
        </p:nvSpPr>
        <p:spPr>
          <a:xfrm>
            <a:off x="1900000" y="4100000"/>
            <a:ext cx="700000" cy="360000"/>
          </a:xfrm>
          <a:prstGeom prst="roundRect">
            <a:avLst>
              <a:gd name="adj" fmla="val 30000"/>
            </a:avLst>
          </a:prstGeom>
          <a:solidFill>
            <a:srgbClr val="5E1926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PC</a:t>
            </a:r>
          </a:p>
        </p:txBody>
      </p:sp>
      <p:sp>
        <p:nvSpPr>
          <p:cNvPr id="215" name="gcallout"/>
          <p:cNvSpPr/>
          <p:nvPr/>
        </p:nvSpPr>
        <p:spPr>
          <a:xfrm>
            <a:off x="600000" y="5180000"/>
            <a:ext cx="10992000" cy="7200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16" name="gcalltxt"/>
          <p:cNvSpPr txBox="1"/>
          <p:nvPr/>
        </p:nvSpPr>
        <p:spPr>
          <a:xfrm>
            <a:off x="900000" y="5180000"/>
            <a:ext cx="1040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2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모바일로는 어디서나 간편하게 입력하되,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A79A98"/>
                </a:solidFill>
                <a:latin typeface="Calibri"/>
                <a:ea typeface="맑은 고딕"/>
                <a:cs typeface="맑은 고딕"/>
              </a:rPr>
              <a:t>ERP 입력·변경은 반드시 PC에서 사용자가 반영 내용을 확인·승인한 뒤에만 적용되어, 현장 편의성과 데이터 정합성을 동시에 확보합니다.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8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예시 화면</a:t>
            </a:r>
          </a:p>
        </p:txBody>
      </p:sp>
      <p:sp>
        <p:nvSpPr>
          <p:cNvPr id="219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모바일 자연어 입력 &amp; PC 반영 확인 화면</a:t>
            </a:r>
          </a:p>
        </p:txBody>
      </p:sp>
      <p:sp>
        <p:nvSpPr>
          <p:cNvPr id="220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UI Mockup · Mobile Input &amp; PC Confirmation</a:t>
            </a:r>
          </a:p>
        </p:txBody>
      </p:sp>
      <p:sp>
        <p:nvSpPr>
          <p:cNvPr id="221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22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7</a:t>
            </a:r>
          </a:p>
        </p:txBody>
      </p:sp>
      <p:sp>
        <p:nvSpPr>
          <p:cNvPr id="223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4" name="phone"/>
          <p:cNvSpPr/>
          <p:nvPr/>
        </p:nvSpPr>
        <p:spPr>
          <a:xfrm>
            <a:off x="760000" y="1900000"/>
            <a:ext cx="2560000" cy="4180000"/>
          </a:xfrm>
          <a:prstGeom prst="roundRect">
            <a:avLst>
              <a:gd name="adj" fmla="val 9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25" name="screen"/>
          <p:cNvSpPr/>
          <p:nvPr/>
        </p:nvSpPr>
        <p:spPr>
          <a:xfrm>
            <a:off x="840000" y="1990000"/>
            <a:ext cx="240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6" name="phdr"/>
          <p:cNvSpPr txBox="1"/>
          <p:nvPr/>
        </p:nvSpPr>
        <p:spPr>
          <a:xfrm>
            <a:off x="990000" y="211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MnSi·PMS  ·  모바일 입력</a:t>
            </a:r>
          </a:p>
        </p:txBody>
      </p:sp>
      <p:sp>
        <p:nvSpPr>
          <p:cNvPr id="227" name="ubub"/>
          <p:cNvSpPr/>
          <p:nvPr/>
        </p:nvSpPr>
        <p:spPr>
          <a:xfrm>
            <a:off x="1450000" y="2550000"/>
            <a:ext cx="1640000" cy="540000"/>
          </a:xfrm>
          <a:prstGeom prst="roundRect">
            <a:avLst>
              <a:gd name="adj" fmla="val 2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조립공정 실적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7% 처리해줘</a:t>
            </a:r>
          </a:p>
        </p:txBody>
      </p:sp>
      <p:sp>
        <p:nvSpPr>
          <p:cNvPr id="228" name="abub"/>
          <p:cNvSpPr/>
          <p:nvPr/>
        </p:nvSpPr>
        <p:spPr>
          <a:xfrm>
            <a:off x="990000" y="3230000"/>
            <a:ext cx="2000000" cy="1360000"/>
          </a:xfrm>
          <a:prstGeom prst="roundRect">
            <a:avLst>
              <a:gd name="adj" fmla="val 14000"/>
            </a:avLst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반영 미리보기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P5 조립/패키징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실적 0% → 7%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i="1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PC에서 확인 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i="1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ERP에 반영됩니다</a:t>
            </a:r>
          </a:p>
        </p:txBody>
      </p:sp>
      <p:sp>
        <p:nvSpPr>
          <p:cNvPr id="229" name="inbar"/>
          <p:cNvSpPr/>
          <p:nvPr/>
        </p:nvSpPr>
        <p:spPr>
          <a:xfrm>
            <a:off x="990000" y="5450000"/>
            <a:ext cx="1640000" cy="360000"/>
          </a:xfrm>
          <a:prstGeom prst="roundRect">
            <a:avLst>
              <a:gd name="adj" fmla="val 40000"/>
            </a:avLst>
          </a:prstGeom>
          <a:solidFill>
            <a:srgbClr val="F3EFEE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 b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자연어로 명령하세요</a:t>
            </a:r>
          </a:p>
        </p:txBody>
      </p:sp>
      <p:sp>
        <p:nvSpPr>
          <p:cNvPr id="230" name="send"/>
          <p:cNvSpPr/>
          <p:nvPr/>
        </p:nvSpPr>
        <p:spPr>
          <a:xfrm>
            <a:off x="2750000" y="5450000"/>
            <a:ext cx="360000" cy="360000"/>
          </a:xfrm>
          <a:prstGeom prst="roundRect">
            <a:avLst>
              <a:gd name="adj" fmla="val 40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▸</a:t>
            </a:r>
          </a:p>
        </p:txBody>
      </p:sp>
      <p:sp>
        <p:nvSpPr>
          <p:cNvPr id="231" name="pcap"/>
          <p:cNvSpPr txBox="1"/>
          <p:nvPr/>
        </p:nvSpPr>
        <p:spPr>
          <a:xfrm>
            <a:off x="760000" y="6140000"/>
            <a:ext cx="25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① 모바일 — 현장 자연어 입력</a:t>
            </a:r>
          </a:p>
        </p:txBody>
      </p:sp>
      <p:sp>
        <p:nvSpPr>
          <p:cNvPr id="232" name="win"/>
          <p:cNvSpPr/>
          <p:nvPr/>
        </p:nvSpPr>
        <p:spPr>
          <a:xfrm>
            <a:off x="3760000" y="1980000"/>
            <a:ext cx="7500000" cy="3940000"/>
          </a:xfrm>
          <a:prstGeom prst="rect">
            <a:avLst/>
          </a:prstGeom>
          <a:solidFill>
            <a:srgbClr val="FFFFFF"/>
          </a:solidFill>
          <a:ln>
            <a:solidFill>
              <a:srgbClr val="DAD5D4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33" name="titlebar"/>
          <p:cNvSpPr/>
          <p:nvPr/>
        </p:nvSpPr>
        <p:spPr>
          <a:xfrm>
            <a:off x="3760000" y="1980000"/>
            <a:ext cx="7500000" cy="440000"/>
          </a:xfrm>
          <a:prstGeom prst="rect">
            <a:avLst/>
          </a:prstGeom>
          <a:solidFill>
            <a:srgbClr val="F2EEE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4" name="dot"/>
          <p:cNvSpPr/>
          <p:nvPr/>
        </p:nvSpPr>
        <p:spPr>
          <a:xfrm>
            <a:off x="3930000" y="2130000"/>
            <a:ext cx="140000" cy="14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5" name="dot"/>
          <p:cNvSpPr/>
          <p:nvPr/>
        </p:nvSpPr>
        <p:spPr>
          <a:xfrm>
            <a:off x="4130000" y="2130000"/>
            <a:ext cx="140000" cy="140000"/>
          </a:xfrm>
          <a:prstGeom prst="ellipse">
            <a:avLst/>
          </a:prstGeom>
          <a:solidFill>
            <a:srgbClr val="9B334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6" name="dot"/>
          <p:cNvSpPr/>
          <p:nvPr/>
        </p:nvSpPr>
        <p:spPr>
          <a:xfrm>
            <a:off x="4330000" y="2130000"/>
            <a:ext cx="140000" cy="14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7" name="wtitle"/>
          <p:cNvSpPr txBox="1"/>
          <p:nvPr/>
        </p:nvSpPr>
        <p:spPr>
          <a:xfrm>
            <a:off x="3760000" y="1980000"/>
            <a:ext cx="75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ERP 반영 확인  ·  PC</a:t>
            </a:r>
          </a:p>
        </p:txBody>
      </p:sp>
      <p:sp>
        <p:nvSpPr>
          <p:cNvPr id="238" name="confcard"/>
          <p:cNvSpPr/>
          <p:nvPr/>
        </p:nvSpPr>
        <p:spPr>
          <a:xfrm>
            <a:off x="4120000" y="2620000"/>
            <a:ext cx="6780000" cy="2760000"/>
          </a:xfrm>
          <a:prstGeom prst="roundRect">
            <a:avLst>
              <a:gd name="adj" fmla="val 4000"/>
            </a:avLst>
          </a:prstGeom>
          <a:solidFill>
            <a:srgbClr val="F8F4F3"/>
          </a:solidFill>
          <a:ln>
            <a:solidFill>
              <a:srgbClr val="EDE9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39" name="ch2"/>
          <p:cNvSpPr txBox="1"/>
          <p:nvPr/>
        </p:nvSpPr>
        <p:spPr>
          <a:xfrm>
            <a:off x="4380000" y="2820000"/>
            <a:ext cx="626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ERP 반영 확인</a:t>
            </a:r>
          </a:p>
        </p:txBody>
      </p:sp>
      <p:sp>
        <p:nvSpPr>
          <p:cNvPr id="240" name="rl"/>
          <p:cNvSpPr txBox="1"/>
          <p:nvPr/>
        </p:nvSpPr>
        <p:spPr>
          <a:xfrm>
            <a:off x="4380000" y="338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대상 메뉴</a:t>
            </a:r>
          </a:p>
        </p:txBody>
      </p:sp>
      <p:sp>
        <p:nvSpPr>
          <p:cNvPr id="241" name="rv"/>
          <p:cNvSpPr txBox="1"/>
          <p:nvPr/>
        </p:nvSpPr>
        <p:spPr>
          <a:xfrm>
            <a:off x="5940000" y="3380000"/>
            <a:ext cx="4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단계별 진척 (P5 조립/패키징)</a:t>
            </a:r>
          </a:p>
        </p:txBody>
      </p:sp>
      <p:sp>
        <p:nvSpPr>
          <p:cNvPr id="242" name="rl"/>
          <p:cNvSpPr txBox="1"/>
          <p:nvPr/>
        </p:nvSpPr>
        <p:spPr>
          <a:xfrm>
            <a:off x="4380000" y="376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변경 항목</a:t>
            </a:r>
          </a:p>
        </p:txBody>
      </p:sp>
      <p:sp>
        <p:nvSpPr>
          <p:cNvPr id="243" name="rv"/>
          <p:cNvSpPr txBox="1"/>
          <p:nvPr/>
        </p:nvSpPr>
        <p:spPr>
          <a:xfrm>
            <a:off x="5940000" y="3760000"/>
            <a:ext cx="4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실적 진척률</a:t>
            </a:r>
          </a:p>
        </p:txBody>
      </p:sp>
      <p:sp>
        <p:nvSpPr>
          <p:cNvPr id="244" name="rl"/>
          <p:cNvSpPr txBox="1"/>
          <p:nvPr/>
        </p:nvSpPr>
        <p:spPr>
          <a:xfrm>
            <a:off x="4380000" y="414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요청 채널</a:t>
            </a:r>
          </a:p>
        </p:txBody>
      </p:sp>
      <p:sp>
        <p:nvSpPr>
          <p:cNvPr id="245" name="rv"/>
          <p:cNvSpPr txBox="1"/>
          <p:nvPr/>
        </p:nvSpPr>
        <p:spPr>
          <a:xfrm>
            <a:off x="5940000" y="4140000"/>
            <a:ext cx="4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모바일 자연어 입력 · 신정환</a:t>
            </a:r>
          </a:p>
        </p:txBody>
      </p:sp>
      <p:sp>
        <p:nvSpPr>
          <p:cNvPr id="246" name="bl"/>
          <p:cNvSpPr txBox="1"/>
          <p:nvPr/>
        </p:nvSpPr>
        <p:spPr>
          <a:xfrm>
            <a:off x="4380000" y="456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변경 전 → 후</a:t>
            </a:r>
          </a:p>
        </p:txBody>
      </p:sp>
      <p:sp>
        <p:nvSpPr>
          <p:cNvPr id="247" name="ba"/>
          <p:cNvSpPr txBox="1"/>
          <p:nvPr/>
        </p:nvSpPr>
        <p:spPr>
          <a:xfrm>
            <a:off x="5940000" y="4560000"/>
            <a:ext cx="4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0%   →   </a:t>
            </a: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7%</a:t>
            </a:r>
          </a:p>
        </p:txBody>
      </p:sp>
      <p:sp>
        <p:nvSpPr>
          <p:cNvPr id="248" name="btn1"/>
          <p:cNvSpPr/>
          <p:nvPr/>
        </p:nvSpPr>
        <p:spPr>
          <a:xfrm>
            <a:off x="4380000" y="4820000"/>
            <a:ext cx="2300000" cy="420000"/>
          </a:xfrm>
          <a:prstGeom prst="roundRect">
            <a:avLst>
              <a:gd name="adj" fmla="val 22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확인 후 ERP 반영</a:t>
            </a:r>
          </a:p>
        </p:txBody>
      </p:sp>
      <p:sp>
        <p:nvSpPr>
          <p:cNvPr id="249" name="btn2"/>
          <p:cNvSpPr/>
          <p:nvPr/>
        </p:nvSpPr>
        <p:spPr>
          <a:xfrm>
            <a:off x="6780000" y="4820000"/>
            <a:ext cx="1200000" cy="420000"/>
          </a:xfrm>
          <a:prstGeom prst="roundRect">
            <a:avLst>
              <a:gd name="adj" fmla="val 22000"/>
            </a:avLst>
          </a:prstGeom>
          <a:solidFill>
            <a:srgbClr val="ECE7E6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4E4A49"/>
                </a:solidFill>
                <a:latin typeface="Calibri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250" name="note"/>
          <p:cNvSpPr txBox="1"/>
          <p:nvPr/>
        </p:nvSpPr>
        <p:spPr>
          <a:xfrm>
            <a:off x="8140000" y="4820000"/>
            <a:ext cx="25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i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※ ERP 반영은 PC 확인·승인 후에만 적용</a:t>
            </a:r>
          </a:p>
        </p:txBody>
      </p:sp>
      <p:sp>
        <p:nvSpPr>
          <p:cNvPr id="251" name="wcap"/>
          <p:cNvSpPr txBox="1"/>
          <p:nvPr/>
        </p:nvSpPr>
        <p:spPr>
          <a:xfrm>
            <a:off x="3760000" y="598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② PC — 반영 내용 확인 후 ERP 입력·변경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예시 화면</a:t>
            </a:r>
          </a:p>
        </p:txBody>
      </p:sp>
      <p:sp>
        <p:nvSpPr>
          <p:cNvPr id="25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주요 메뉴 화면 시안 (참고)</a:t>
            </a:r>
          </a:p>
        </p:txBody>
      </p:sp>
      <p:sp>
        <p:nvSpPr>
          <p:cNvPr id="25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Reference UI · Key PMS Menus</a:t>
            </a:r>
          </a:p>
        </p:txBody>
      </p:sp>
      <p:sp>
        <p:nvSpPr>
          <p:cNvPr id="25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5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8</a:t>
            </a:r>
          </a:p>
        </p:txBody>
      </p:sp>
      <p:sp>
        <p:nvSpPr>
          <p:cNvPr id="25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9" name="shotcard"/>
          <p:cNvSpPr/>
          <p:nvPr/>
        </p:nvSpPr>
        <p:spPr>
          <a:xfrm>
            <a:off x="600000" y="1760000"/>
            <a:ext cx="5376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DE9E8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60" name="shotcap"/>
          <p:cNvSpPr txBox="1"/>
          <p:nvPr/>
        </p:nvSpPr>
        <p:spPr>
          <a:xfrm>
            <a:off x="820000" y="1910000"/>
            <a:ext cx="4936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① 수주 등록 · 프로젝트 생성</a:t>
            </a:r>
          </a:p>
        </p:txBody>
      </p:sp>
      <p:pic>
        <p:nvPicPr>
          <p:cNvPr id="261" name="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38" y="2280000"/>
            <a:ext cx="2932524" cy="1400000"/>
          </a:xfrm>
          <a:prstGeom prst="rect">
            <a:avLst/>
          </a:prstGeom>
        </p:spPr>
      </p:pic>
      <p:sp>
        <p:nvSpPr>
          <p:cNvPr id="262" name="shotcard"/>
          <p:cNvSpPr/>
          <p:nvPr/>
        </p:nvSpPr>
        <p:spPr>
          <a:xfrm>
            <a:off x="6216000" y="1760000"/>
            <a:ext cx="5376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DE9E8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63" name="shotcap"/>
          <p:cNvSpPr txBox="1"/>
          <p:nvPr/>
        </p:nvSpPr>
        <p:spPr>
          <a:xfrm>
            <a:off x="6436000" y="1910000"/>
            <a:ext cx="4936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② 전사 진척 + AI 어시스턴트</a:t>
            </a:r>
          </a:p>
        </p:txBody>
      </p:sp>
      <p:pic>
        <p:nvPicPr>
          <p:cNvPr id="264" name="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074" y="2280000"/>
            <a:ext cx="2783852" cy="1400000"/>
          </a:xfrm>
          <a:prstGeom prst="rect">
            <a:avLst/>
          </a:prstGeom>
        </p:spPr>
      </p:pic>
      <p:sp>
        <p:nvSpPr>
          <p:cNvPr id="265" name="shotcard"/>
          <p:cNvSpPr/>
          <p:nvPr/>
        </p:nvSpPr>
        <p:spPr>
          <a:xfrm>
            <a:off x="600000" y="3960000"/>
            <a:ext cx="5376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DE9E8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66" name="shotcap"/>
          <p:cNvSpPr txBox="1"/>
          <p:nvPr/>
        </p:nvSpPr>
        <p:spPr>
          <a:xfrm>
            <a:off x="820000" y="4110000"/>
            <a:ext cx="4936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③ 대금(기성) 관리</a:t>
            </a:r>
          </a:p>
        </p:txBody>
      </p:sp>
      <p:pic>
        <p:nvPicPr>
          <p:cNvPr id="267" name="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" y="4550437"/>
            <a:ext cx="4976000" cy="1259126"/>
          </a:xfrm>
          <a:prstGeom prst="rect">
            <a:avLst/>
          </a:prstGeom>
        </p:spPr>
      </p:pic>
      <p:sp>
        <p:nvSpPr>
          <p:cNvPr id="268" name="shotcard"/>
          <p:cNvSpPr/>
          <p:nvPr/>
        </p:nvSpPr>
        <p:spPr>
          <a:xfrm>
            <a:off x="6216000" y="3960000"/>
            <a:ext cx="5376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DE9E8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69" name="shotcap"/>
          <p:cNvSpPr txBox="1"/>
          <p:nvPr/>
        </p:nvSpPr>
        <p:spPr>
          <a:xfrm>
            <a:off x="6436000" y="4110000"/>
            <a:ext cx="4936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④ 기자재 구매 · 발주</a:t>
            </a:r>
          </a:p>
        </p:txBody>
      </p:sp>
      <p:pic>
        <p:nvPicPr>
          <p:cNvPr id="270" name="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286" y="4480000"/>
            <a:ext cx="3839427" cy="1400000"/>
          </a:xfrm>
          <a:prstGeom prst="rect">
            <a:avLst/>
          </a:prstGeom>
        </p:spPr>
      </p:pic>
      <p:sp>
        <p:nvSpPr>
          <p:cNvPr id="271" name="disc"/>
          <p:cNvSpPr txBox="1"/>
          <p:nvPr/>
        </p:nvSpPr>
        <p:spPr>
          <a:xfrm>
            <a:off x="600000" y="6140000"/>
            <a:ext cx="1099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i="1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※ 본 화면은 POC 기반 참고 시안으로, 실제 구축 시 MNSI 요건에 맞춰 화면·항목이 확정됩니다.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7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수주 관리</a:t>
            </a:r>
          </a:p>
        </p:txBody>
      </p:sp>
      <p:sp>
        <p:nvSpPr>
          <p:cNvPr id="27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수주·프로젝트 통합 등록 관리</a:t>
            </a:r>
          </a:p>
        </p:txBody>
      </p:sp>
      <p:sp>
        <p:nvSpPr>
          <p:cNvPr id="27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Sales Order &amp; Project Registration</a:t>
            </a:r>
          </a:p>
        </p:txBody>
      </p:sp>
      <p:sp>
        <p:nvSpPr>
          <p:cNvPr id="27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7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9</a:t>
            </a:r>
          </a:p>
        </p:txBody>
      </p:sp>
      <p:sp>
        <p:nvSpPr>
          <p:cNvPr id="27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7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8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28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수주/프로젝트 등록 관리</a:t>
            </a:r>
          </a:p>
        </p:txBody>
      </p:sp>
      <p:sp>
        <p:nvSpPr>
          <p:cNvPr id="28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28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수주 계약 정보(제품·계약금액·납기·정산조건)를 입력하면 고유 프로젝트가 생성되고 표준 단계(P1~P6)가 자동 구성되는 PMS 진입 메뉴</a:t>
            </a:r>
          </a:p>
        </p:txBody>
      </p:sp>
      <p:sp>
        <p:nvSpPr>
          <p:cNvPr id="28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28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수주 마스터 등록 화면 및 프로젝트 코드 자동 채번, 발주처·납품처·계약/정산 조건 필드 구성</a:t>
            </a:r>
          </a:p>
        </p:txBody>
      </p:sp>
      <p:sp>
        <p:nvSpPr>
          <p:cNvPr id="28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표준 단계(Phase) 자동 생성: 수주→설계→구매→제작→조립→FAT→출하 골격 자동 셋업</a:t>
            </a:r>
          </a:p>
        </p:txBody>
      </p:sp>
      <p:sp>
        <p:nvSpPr>
          <p:cNvPr id="29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“○○ 수주 1.8억, 납기 12월로 등록해줘” 등 자연어 입력으로 프로젝트 신규 생성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진척 관리</a:t>
            </a:r>
          </a:p>
        </p:txBody>
      </p:sp>
      <p:sp>
        <p:nvSpPr>
          <p:cNvPr id="29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단계별 가중 진척(WBS) 관리</a:t>
            </a:r>
          </a:p>
        </p:txBody>
      </p:sp>
      <p:sp>
        <p:nvSpPr>
          <p:cNvPr id="29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WBS &amp; Weighted Progress</a:t>
            </a:r>
          </a:p>
        </p:txBody>
      </p:sp>
      <p:sp>
        <p:nvSpPr>
          <p:cNvPr id="29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9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10</a:t>
            </a:r>
          </a:p>
        </p:txBody>
      </p:sp>
      <p:sp>
        <p:nvSpPr>
          <p:cNvPr id="29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0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30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단계별 진척(WBS) 관리</a:t>
            </a:r>
          </a:p>
        </p:txBody>
      </p:sp>
      <p:sp>
        <p:nvSpPr>
          <p:cNvPr id="30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30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단계별 가중치를 기준으로 실적·계획 진척률을 집계하고 전체 진척과 편차를 실시간 산출하는 공정 관리 메뉴</a:t>
            </a:r>
          </a:p>
        </p:txBody>
      </p:sp>
      <p:sp>
        <p:nvSpPr>
          <p:cNvPr id="30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30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단계 가중치(P1~P6) 설정 및 가중 평균 기반 전체 진척률·계획 대비 편차 자동 산출</a:t>
            </a:r>
          </a:p>
        </p:txBody>
      </p:sp>
      <p:sp>
        <p:nvSpPr>
          <p:cNvPr id="30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단계 상태(미착수·진행·완료) 및 진척 추이 시각화, 지연 단계 자동 식별</a:t>
            </a:r>
          </a:p>
        </p:txBody>
      </p:sp>
      <p:sp>
        <p:nvSpPr>
          <p:cNvPr id="31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“제작/가공 실적 6%로 올려줘” 자연어 명령으로 단계 실적 갱신 및 로그 기록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대금 관리</a:t>
            </a:r>
          </a:p>
        </p:txBody>
      </p:sp>
      <p:sp>
        <p:nvSpPr>
          <p:cNvPr id="31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대금(기성) 정산 관리</a:t>
            </a:r>
          </a:p>
        </p:txBody>
      </p:sp>
      <p:sp>
        <p:nvSpPr>
          <p:cNvPr id="31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Progress Billing Management</a:t>
            </a:r>
          </a:p>
        </p:txBody>
      </p:sp>
      <p:sp>
        <p:nvSpPr>
          <p:cNvPr id="31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31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11</a:t>
            </a:r>
          </a:p>
        </p:txBody>
      </p:sp>
      <p:sp>
        <p:nvSpPr>
          <p:cNvPr id="31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2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32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대금(기성) 관리</a:t>
            </a:r>
          </a:p>
        </p:txBody>
      </p:sp>
      <p:sp>
        <p:nvSpPr>
          <p:cNvPr id="32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32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회차별 기성 청구→사정→확정→지급 흐름을 관리하고 선급 정산·유보·실수금을 자동 계산하는 정산 메뉴</a:t>
            </a:r>
          </a:p>
        </p:txBody>
      </p:sp>
      <p:sp>
        <p:nvSpPr>
          <p:cNvPr id="32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2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32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2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회차별 금회·누계 대금 입력 및 유보율·선급금 정산율 기반 실수금 자동 계산</a:t>
            </a:r>
          </a:p>
        </p:txBody>
      </p:sp>
      <p:sp>
        <p:nvSpPr>
          <p:cNvPr id="32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2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상태 워크플로우(청구→사정→확정→지급) 및 누계 대금률 현황 집계</a:t>
            </a:r>
          </a:p>
        </p:txBody>
      </p:sp>
      <p:sp>
        <p:nvSpPr>
          <p:cNvPr id="33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“1회차 기성 1000만원 청구로 등록해줘” 자연어 입력으로 대금 회차 생성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구매 관리</a:t>
            </a:r>
          </a:p>
        </p:txBody>
      </p:sp>
      <p:sp>
        <p:nvSpPr>
          <p:cNvPr id="33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기자재 구매·발주 관리</a:t>
            </a:r>
          </a:p>
        </p:txBody>
      </p:sp>
      <p:sp>
        <p:nvSpPr>
          <p:cNvPr id="33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Procurement &amp; PO Management</a:t>
            </a:r>
          </a:p>
        </p:txBody>
      </p:sp>
      <p:sp>
        <p:nvSpPr>
          <p:cNvPr id="33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33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12</a:t>
            </a:r>
          </a:p>
        </p:txBody>
      </p:sp>
      <p:sp>
        <p:nvSpPr>
          <p:cNvPr id="33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4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34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기자재 구매/발주 관리</a:t>
            </a:r>
          </a:p>
        </p:txBody>
      </p:sp>
      <p:sp>
        <p:nvSpPr>
          <p:cNvPr id="34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34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품목·단가·수량·리드타임 기반 발주를 등록하고 입고·지연(롱리드) 현황을 추적하는 자재 관리 메뉴</a:t>
            </a:r>
          </a:p>
        </p:txBody>
      </p:sp>
      <p:sp>
        <p:nvSpPr>
          <p:cNvPr id="34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4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34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4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발주 등록(품목·단가·수량·리드타임·ETA) 및 발주 상태(발주·입고 등) 추적</a:t>
            </a:r>
          </a:p>
        </p:txBody>
      </p:sp>
      <p:sp>
        <p:nvSpPr>
          <p:cNvPr id="34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4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롱리드 품목 식별 및 입고율·발주 잔량 요약 현황 집계</a:t>
            </a:r>
          </a:p>
        </p:txBody>
      </p:sp>
      <p:sp>
        <p:nvSpPr>
          <p:cNvPr id="35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5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“NEA 압축기 본체 1.8억, 리드타임 5주 발주” 자연어 발주 생성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5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원가 관리</a:t>
            </a:r>
          </a:p>
        </p:txBody>
      </p:sp>
      <p:sp>
        <p:nvSpPr>
          <p:cNvPr id="35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프로젝트 원가·손익 분석</a:t>
            </a:r>
          </a:p>
        </p:txBody>
      </p:sp>
      <p:sp>
        <p:nvSpPr>
          <p:cNvPr id="35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Cost &amp; Profitability Analysis</a:t>
            </a:r>
          </a:p>
        </p:txBody>
      </p:sp>
      <p:sp>
        <p:nvSpPr>
          <p:cNvPr id="35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35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13</a:t>
            </a:r>
          </a:p>
        </p:txBody>
      </p:sp>
      <p:sp>
        <p:nvSpPr>
          <p:cNvPr id="35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5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6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36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원가/손익 분석 관리</a:t>
            </a:r>
          </a:p>
        </p:txBody>
      </p:sp>
      <p:sp>
        <p:nvSpPr>
          <p:cNvPr id="36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36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직접비·간접비 집행과 안분 규칙을 반영해 프로젝트별 원가 집행률과 손익 마진을 산출하는 분석 메뉴</a:t>
            </a:r>
          </a:p>
        </p:txBody>
      </p:sp>
      <p:sp>
        <p:nvSpPr>
          <p:cNvPr id="36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36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원가 요소(직접재료·노무·경비) 집행 집계 및 예산 대비 집행률 산출</a:t>
            </a:r>
          </a:p>
        </p:txBody>
      </p:sp>
      <p:sp>
        <p:nvSpPr>
          <p:cNvPr id="36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공통비 안분 규칙 적용 및 프로젝트별 손익·이익률 다차원 조회</a:t>
            </a:r>
          </a:p>
        </p:txBody>
      </p:sp>
      <p:sp>
        <p:nvSpPr>
          <p:cNvPr id="37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7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“이 프로젝트 원가 집행률 알려줘” 자연어 질의로 즉시 현황 응답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73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현황·감사</a:t>
            </a:r>
          </a:p>
        </p:txBody>
      </p:sp>
      <p:sp>
        <p:nvSpPr>
          <p:cNvPr id="374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전사 현황 대시보드 &amp; 감사 추적</a:t>
            </a:r>
          </a:p>
        </p:txBody>
      </p:sp>
      <p:sp>
        <p:nvSpPr>
          <p:cNvPr id="375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Dashboard &amp; Activity Audit</a:t>
            </a:r>
          </a:p>
        </p:txBody>
      </p:sp>
      <p:sp>
        <p:nvSpPr>
          <p:cNvPr id="376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377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14</a:t>
            </a:r>
          </a:p>
        </p:txBody>
      </p:sp>
      <p:sp>
        <p:nvSpPr>
          <p:cNvPr id="378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79" name="panel"/>
          <p:cNvSpPr/>
          <p:nvPr/>
        </p:nvSpPr>
        <p:spPr>
          <a:xfrm>
            <a:off x="600000" y="1980000"/>
            <a:ext cx="4600000" cy="385000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80" name="l1"/>
          <p:cNvSpPr txBox="1"/>
          <p:nvPr/>
        </p:nvSpPr>
        <p:spPr>
          <a:xfrm>
            <a:off x="920000" y="228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381" name="v1"/>
          <p:cNvSpPr txBox="1"/>
          <p:nvPr/>
        </p:nvSpPr>
        <p:spPr>
          <a:xfrm>
            <a:off x="920000" y="2560000"/>
            <a:ext cx="396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전사 현황 대시보드 / 활동 로그·감사</a:t>
            </a:r>
          </a:p>
        </p:txBody>
      </p:sp>
      <p:sp>
        <p:nvSpPr>
          <p:cNvPr id="382" name="l2"/>
          <p:cNvSpPr txBox="1"/>
          <p:nvPr/>
        </p:nvSpPr>
        <p:spPr>
          <a:xfrm>
            <a:off x="920000" y="3720000"/>
            <a:ext cx="39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383" name="v2"/>
          <p:cNvSpPr txBox="1"/>
          <p:nvPr/>
        </p:nvSpPr>
        <p:spPr>
          <a:xfrm>
            <a:off x="920000" y="4000000"/>
            <a:ext cx="3960000" cy="17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진척·대금·입고·원가 핵심 지표를 한 화면에 집계하고 모든 입력·변경 이력을 시간순으로 추적하는 통합 현황 메뉴</a:t>
            </a:r>
          </a:p>
        </p:txBody>
      </p:sp>
      <p:sp>
        <p:nvSpPr>
          <p:cNvPr id="384" name="rhdot"/>
          <p:cNvSpPr/>
          <p:nvPr/>
        </p:nvSpPr>
        <p:spPr>
          <a:xfrm>
            <a:off x="5660000" y="2100000"/>
            <a:ext cx="170000" cy="17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5" name="rh"/>
          <p:cNvSpPr txBox="1"/>
          <p:nvPr/>
        </p:nvSpPr>
        <p:spPr>
          <a:xfrm>
            <a:off x="5960000" y="2040000"/>
            <a:ext cx="5632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386" name="bmark"/>
          <p:cNvSpPr/>
          <p:nvPr/>
        </p:nvSpPr>
        <p:spPr>
          <a:xfrm>
            <a:off x="5660000" y="273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7" name="bt"/>
          <p:cNvSpPr txBox="1"/>
          <p:nvPr/>
        </p:nvSpPr>
        <p:spPr>
          <a:xfrm>
            <a:off x="5960000" y="266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KPI 카드(단계 진척·누계 대금률·기자재 입고율·원가 집행률) 및 단계별 진척 통합 뷰</a:t>
            </a:r>
          </a:p>
        </p:txBody>
      </p:sp>
      <p:sp>
        <p:nvSpPr>
          <p:cNvPr id="388" name="bmark"/>
          <p:cNvSpPr/>
          <p:nvPr/>
        </p:nvSpPr>
        <p:spPr>
          <a:xfrm>
            <a:off x="5660000" y="37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9" name="bt"/>
          <p:cNvSpPr txBox="1"/>
          <p:nvPr/>
        </p:nvSpPr>
        <p:spPr>
          <a:xfrm>
            <a:off x="5960000" y="370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전 메뉴 입력·변경에 대한 활동 로그 자동 적재(작업자·일시·변경 전후 값)</a:t>
            </a:r>
          </a:p>
        </p:txBody>
      </p:sp>
      <p:sp>
        <p:nvSpPr>
          <p:cNvPr id="390" name="bmark"/>
          <p:cNvSpPr/>
          <p:nvPr/>
        </p:nvSpPr>
        <p:spPr>
          <a:xfrm>
            <a:off x="5660000" y="481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91" name="bt"/>
          <p:cNvSpPr txBox="1"/>
          <p:nvPr/>
        </p:nvSpPr>
        <p:spPr>
          <a:xfrm>
            <a:off x="5960000" y="4740000"/>
            <a:ext cx="5632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2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AI 어시스턴트 패널: “수주현황 알려줘” 등 자연어 조회·요약 응답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확장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일괄처리 확장 기능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Batch Operations &amp; Confirmation Workflow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096972"/>
            <a:ext cx="2657790" cy="2682173"/>
          </a:xfrm>
          <a:prstGeom prst="roundRect">
            <a:avLst>
              <a:gd name="adj" fmla="val 3211"/>
            </a:avLst>
          </a:prstGeom>
          <a:solidFill>
            <a:srgbClr val="F7F3F2"/>
          </a:solidFill>
          <a:ln/>
          <a:effectLst>
            <a:outerShdw blurRad="76200" dist="25400" dir="5400000" algn="bl" rotWithShape="0">
              <a:srgbClr val="8C807E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89994" y="2340805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86" y="2499298"/>
            <a:ext cx="292601" cy="2926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72448" y="2292039"/>
            <a:ext cx="609585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CC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5610" y="3096691"/>
            <a:ext cx="2267655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수주 생성 · 추가 수주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865610" y="3852576"/>
            <a:ext cx="2267655" cy="87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수주와 추가 수주를 자연어 한 줄로 등록. 품목·수량·금액·납기를 LLM이 해석해 수주 초안 생성</a:t>
            </a:r>
            <a:endParaRPr lang="en-US" sz="1240" dirty="0"/>
          </a:p>
        </p:txBody>
      </p:sp>
      <p:sp>
        <p:nvSpPr>
          <p:cNvPr id="13" name="Shape 10"/>
          <p:cNvSpPr/>
          <p:nvPr/>
        </p:nvSpPr>
        <p:spPr>
          <a:xfrm>
            <a:off x="3596550" y="2096972"/>
            <a:ext cx="2657790" cy="2682173"/>
          </a:xfrm>
          <a:prstGeom prst="roundRect">
            <a:avLst>
              <a:gd name="adj" fmla="val 3211"/>
            </a:avLst>
          </a:prstGeom>
          <a:solidFill>
            <a:srgbClr val="F7F3F2"/>
          </a:solidFill>
          <a:ln/>
          <a:effectLst>
            <a:outerShdw blurRad="76200" dist="25400" dir="5400000" algn="bl" rotWithShape="0">
              <a:srgbClr val="8C807E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16001" y="2340805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493" y="2499298"/>
            <a:ext cx="292601" cy="2926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98455" y="2292039"/>
            <a:ext cx="609585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CC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791617" y="3096691"/>
            <a:ext cx="2267655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발주 생성 · 추가 발주</a:t>
            </a:r>
            <a:endParaRPr lang="en-US" sz="1667" dirty="0"/>
          </a:p>
        </p:txBody>
      </p:sp>
      <p:sp>
        <p:nvSpPr>
          <p:cNvPr id="18" name="Text 14"/>
          <p:cNvSpPr/>
          <p:nvPr/>
        </p:nvSpPr>
        <p:spPr>
          <a:xfrm>
            <a:off x="3791617" y="3852576"/>
            <a:ext cx="2267655" cy="87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소요 기반 발주·추가 발주를 자연어로 생성. 품목·단가·리드타임 자동 매핑</a:t>
            </a:r>
            <a:endParaRPr lang="en-US" sz="1240" dirty="0"/>
          </a:p>
        </p:txBody>
      </p:sp>
      <p:sp>
        <p:nvSpPr>
          <p:cNvPr id="19" name="Shape 15"/>
          <p:cNvSpPr/>
          <p:nvPr/>
        </p:nvSpPr>
        <p:spPr>
          <a:xfrm>
            <a:off x="6522557" y="2096972"/>
            <a:ext cx="2657790" cy="2682173"/>
          </a:xfrm>
          <a:prstGeom prst="roundRect">
            <a:avLst>
              <a:gd name="adj" fmla="val 3211"/>
            </a:avLst>
          </a:prstGeom>
          <a:solidFill>
            <a:srgbClr val="F7F3F2"/>
          </a:solidFill>
          <a:ln/>
          <a:effectLst>
            <a:outerShdw blurRad="76200" dist="25400" dir="5400000" algn="bl" rotWithShape="0">
              <a:srgbClr val="8C807E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742007" y="2340805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499" y="2499298"/>
            <a:ext cx="292601" cy="29260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24461" y="2292039"/>
            <a:ext cx="609585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CC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717624" y="3096691"/>
            <a:ext cx="2267655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수량·납기일 일괄변경 (수주/발주)</a:t>
            </a:r>
            <a:endParaRPr lang="en-US" sz="1667" dirty="0"/>
          </a:p>
        </p:txBody>
      </p:sp>
      <p:sp>
        <p:nvSpPr>
          <p:cNvPr id="24" name="Text 19"/>
          <p:cNvSpPr/>
          <p:nvPr/>
        </p:nvSpPr>
        <p:spPr>
          <a:xfrm>
            <a:off x="6717624" y="3852576"/>
            <a:ext cx="2267655" cy="87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수주 수량·납기일, 발주 수량·납기일을 LLM 명령 한 번으로 일괄 변경</a:t>
            </a:r>
            <a:endParaRPr lang="en-US" sz="1240" dirty="0"/>
          </a:p>
        </p:txBody>
      </p:sp>
      <p:sp>
        <p:nvSpPr>
          <p:cNvPr id="25" name="Shape 20"/>
          <p:cNvSpPr/>
          <p:nvPr/>
        </p:nvSpPr>
        <p:spPr>
          <a:xfrm>
            <a:off x="9448564" y="2096972"/>
            <a:ext cx="2657790" cy="2682173"/>
          </a:xfrm>
          <a:prstGeom prst="roundRect">
            <a:avLst>
              <a:gd name="adj" fmla="val 3211"/>
            </a:avLst>
          </a:prstGeom>
          <a:solidFill>
            <a:srgbClr val="F7F3F2"/>
          </a:solidFill>
          <a:ln/>
          <a:effectLst>
            <a:outerShdw blurRad="76200" dist="25400" dir="5400000" algn="bl" rotWithShape="0">
              <a:srgbClr val="8C807E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9668014" y="2340805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6506" y="2499298"/>
            <a:ext cx="292601" cy="29260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350468" y="2292039"/>
            <a:ext cx="609585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CC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9643631" y="3096691"/>
            <a:ext cx="2267655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변경 → PMS 일정 자동 반영</a:t>
            </a:r>
            <a:endParaRPr lang="en-US" sz="1667" dirty="0"/>
          </a:p>
        </p:txBody>
      </p:sp>
      <p:sp>
        <p:nvSpPr>
          <p:cNvPr id="30" name="Text 24"/>
          <p:cNvSpPr/>
          <p:nvPr/>
        </p:nvSpPr>
        <p:spPr>
          <a:xfrm>
            <a:off x="9643631" y="3852576"/>
            <a:ext cx="2267655" cy="87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납기일이 변경되면 단계 일정·발주 ETA를 자동 재산정하여 PMS 일정(간트)에 연계 반영</a:t>
            </a:r>
            <a:endParaRPr lang="en-US" sz="1240" dirty="0"/>
          </a:p>
        </p:txBody>
      </p:sp>
      <p:sp>
        <p:nvSpPr>
          <p:cNvPr id="31" name="Shape 25"/>
          <p:cNvSpPr/>
          <p:nvPr/>
        </p:nvSpPr>
        <p:spPr>
          <a:xfrm>
            <a:off x="670543" y="5096129"/>
            <a:ext cx="10850609" cy="999719"/>
          </a:xfrm>
          <a:prstGeom prst="roundRect">
            <a:avLst>
              <a:gd name="adj" fmla="val 8537"/>
            </a:avLst>
          </a:prstGeom>
          <a:solidFill>
            <a:srgbClr val="1A1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950952" y="5291196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4" y="5449688"/>
            <a:ext cx="292601" cy="29260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767796" y="5096129"/>
            <a:ext cx="9570481" cy="999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 — </a:t>
            </a:r>
            <a:r>
              <a:rPr lang="en-US" sz="1533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LLM을 통한 정보 추가·변경은 즉시 반영되지 않으며, 기능별 전용 </a:t>
            </a:r>
            <a:r>
              <a:rPr lang="en-US" sz="15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확인·확정 메뉴</a:t>
            </a:r>
            <a:r>
              <a:rPr lang="en-US" sz="1533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사용자가 내용을 검토·확정한 이후에만 시스템에 반영됩니다.</a:t>
            </a:r>
            <a:endParaRPr lang="en-US" sz="15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관리 · LLM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프로젝트별 수주 생성 · 추가 수주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LLM-based Sales Order Creation &amp; Additional Orders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48205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89572"/>
            <a:ext cx="5973931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3419" y="2389572"/>
            <a:ext cx="5608180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수주 생성  /  수주 확정함 (확인·확정)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670543" y="3121074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개요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43" y="3438058"/>
            <a:ext cx="5973931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명령으로 프로젝트별 신규 수주와 추가 수주 초안을 생성하고, 수주 확정함에서 담당자가 내용을 확인·확정해야만 정식 수주로 등록되는 메뉴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43" y="4267093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43" y="4584077"/>
            <a:ext cx="5973931" cy="173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자연어에서 발주처·품목·수량·금액·납기 엔티티 추출 → 수주 초안(Draft) 자동 생성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수주 확정 시 프로젝트 코드 자동 채번 및 표준 단계(P1~P6) 자동 셋업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수주는 기존 프로젝트에 회차·품목 단위로 귀속, 기존 수주와 구분 관리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확정함: 초안 목록·변경 전후 비교·승인/반려, 확정 전에는 DB 미반영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시 활동 로그(요청자·일시·명령 원문) 자동 적재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949266" y="2048205"/>
            <a:ext cx="4571886" cy="4267093"/>
          </a:xfrm>
          <a:prstGeom prst="roundRect">
            <a:avLst>
              <a:gd name="adj" fmla="val 2286"/>
            </a:avLst>
          </a:prstGeom>
          <a:solidFill>
            <a:srgbClr val="1A1718"/>
          </a:solidFill>
          <a:ln/>
          <a:effectLst>
            <a:outerShdw blurRad="889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193100" y="2292039"/>
            <a:ext cx="512051" cy="512051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33" y="2425172"/>
            <a:ext cx="245785" cy="2457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27068" y="2292039"/>
            <a:ext cx="3474633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수주 생성 · 미리보기</a:t>
            </a:r>
            <a:endParaRPr lang="en-US" sz="1533" dirty="0"/>
          </a:p>
        </p:txBody>
      </p:sp>
      <p:sp>
        <p:nvSpPr>
          <p:cNvPr id="18" name="Shape 15"/>
          <p:cNvSpPr/>
          <p:nvPr/>
        </p:nvSpPr>
        <p:spPr>
          <a:xfrm>
            <a:off x="7193100" y="2974774"/>
            <a:ext cx="4084218" cy="950952"/>
          </a:xfrm>
          <a:prstGeom prst="roundRect">
            <a:avLst>
              <a:gd name="adj" fmla="val 8974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51592" y="2974774"/>
            <a:ext cx="3767234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30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 </a:t>
            </a:r>
            <a:r>
              <a:rPr lang="en-US" sz="1307" i="1" dirty="0">
                <a:solidFill>
                  <a:srgbClr val="F1E9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“창원 압축기 PKG에 추가 수주 — NEA 본체 2기, 3.6억, 납기 12/15 등록해줘”</a:t>
            </a:r>
            <a:endParaRPr lang="en-US" sz="1307" dirty="0"/>
          </a:p>
        </p:txBody>
      </p:sp>
      <p:sp>
        <p:nvSpPr>
          <p:cNvPr id="20" name="Text 17"/>
          <p:cNvSpPr/>
          <p:nvPr/>
        </p:nvSpPr>
        <p:spPr>
          <a:xfrm>
            <a:off x="7241867" y="4096410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 압축기 PKG (기존 귀속)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7241867" y="4425585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수주 · 품목 2건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7241867" y="4754761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금액/납기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360,000,000 · 2026-12-15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241867" y="5083937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초안(Draft) — 확정 대기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7193100" y="5632563"/>
            <a:ext cx="4084218" cy="512051"/>
          </a:xfrm>
          <a:prstGeom prst="roundRect">
            <a:avLst>
              <a:gd name="adj" fmla="val 14286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93100" y="5632563"/>
            <a:ext cx="4084218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 후 확정 반영  ·  수주 확정함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관리 · LLM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프로젝트별 발주 생성 · 추가 발주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LLM-based Purchase Order Creation &amp; Additional POs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48205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89572"/>
            <a:ext cx="5973931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3419" y="2389572"/>
            <a:ext cx="5608180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발주 생성  /  발주 확정함 (확인·확정)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670543" y="3121074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개요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43" y="3438058"/>
            <a:ext cx="5973931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소요(BOM)·거래처 정보를 바탕으로 자연어 명령만으로 발주·추가 발주 초안을 생성하고, 발주 확정함에서 구매 담당자가 확인·확정 후 발주가 생성되는 메뉴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43" y="4267093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43" y="4584077"/>
            <a:ext cx="5973931" cy="173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품목·단가·수량·리드타임·거래처 해석 → 프로젝트별 발주 초안 자동 구성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발주는 기존 발주 잔량·입고 현황과 대조하여 중복·과다 발주 자동 점검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리드타임 기반 발주 시점·입고예정(ETA) 자동 산정, 롱리드 품목 경고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확정함: 품목·금액·ETA 미리보기, 승인 시에만 발주(PO) 정식 생성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발주는 입고·원가·마감 프로세스에 자동 연계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949266" y="2048205"/>
            <a:ext cx="4571886" cy="4267093"/>
          </a:xfrm>
          <a:prstGeom prst="roundRect">
            <a:avLst>
              <a:gd name="adj" fmla="val 2286"/>
            </a:avLst>
          </a:prstGeom>
          <a:solidFill>
            <a:srgbClr val="1A1718"/>
          </a:solidFill>
          <a:ln/>
          <a:effectLst>
            <a:outerShdw blurRad="889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193100" y="2292039"/>
            <a:ext cx="512051" cy="512051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33" y="2425172"/>
            <a:ext cx="245785" cy="2457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27068" y="2292039"/>
            <a:ext cx="3474633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발주 생성 · 미리보기</a:t>
            </a:r>
            <a:endParaRPr lang="en-US" sz="1533" dirty="0"/>
          </a:p>
        </p:txBody>
      </p:sp>
      <p:sp>
        <p:nvSpPr>
          <p:cNvPr id="18" name="Shape 15"/>
          <p:cNvSpPr/>
          <p:nvPr/>
        </p:nvSpPr>
        <p:spPr>
          <a:xfrm>
            <a:off x="7193100" y="2974774"/>
            <a:ext cx="4084218" cy="950952"/>
          </a:xfrm>
          <a:prstGeom prst="roundRect">
            <a:avLst>
              <a:gd name="adj" fmla="val 8974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51592" y="2974774"/>
            <a:ext cx="3767234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30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 </a:t>
            </a:r>
            <a:r>
              <a:rPr lang="en-US" sz="1307" i="1" dirty="0">
                <a:solidFill>
                  <a:srgbClr val="F1E9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“창원 PKG 체결 볼트 M20 200개, 단가 8천원, L/T 3주 추가 발주해줘”</a:t>
            </a:r>
            <a:endParaRPr lang="en-US" sz="1307" dirty="0"/>
          </a:p>
        </p:txBody>
      </p:sp>
      <p:sp>
        <p:nvSpPr>
          <p:cNvPr id="20" name="Text 17"/>
          <p:cNvSpPr/>
          <p:nvPr/>
        </p:nvSpPr>
        <p:spPr>
          <a:xfrm>
            <a:off x="7241867" y="4096410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 압축기 PKG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7241867" y="4425585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 볼트 M20 × 200 EA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7241867" y="4754761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금액/ETA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1,600,000 · L/T 3주 역산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241867" y="5083937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초안(Draft) — 확정 대기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7193100" y="5632563"/>
            <a:ext cx="4084218" cy="512051"/>
          </a:xfrm>
          <a:prstGeom prst="roundRect">
            <a:avLst>
              <a:gd name="adj" fmla="val 14286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93100" y="5632563"/>
            <a:ext cx="4084218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 후 확정 반영  ·  발주 확정함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관리 · 일괄변경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수주 수량·납기일 일괄변경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Update of SO Quantity &amp; Delivery Dates via LLM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48205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89572"/>
            <a:ext cx="5973931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3419" y="2389572"/>
            <a:ext cx="5608180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일괄변경 (LLM)  /  수주 변경 확정함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670543" y="3121074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개요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43" y="3438058"/>
            <a:ext cx="5973931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단위로 수주 품목의 수량·납기일을 자연어 명령 한 번에 일괄 변경하는 메뉴로, 변경 대상·전후 값을 목록으로 미리 확인하고 확정해야 반영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43" y="4267093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43" y="4584077"/>
            <a:ext cx="5973931" cy="173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변경 범위(전체/품목군/특정 품목)와 변경 규칙(증감률·고정값·납기일) 해석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품목 자동 추출 후 ‘변경 전 → 변경 후’ 비교 리스트 자동 생성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시 금액·소요(BOM)·발주 필요량 영향도 자동 재계산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변경 건은 확정 시 PMS 일정 반영 프로세스로 자동 연계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변경 확정함: 건별/일괄 승인·반려, 반려 사유 및 감사 로그 기록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949266" y="2048205"/>
            <a:ext cx="4571886" cy="4267093"/>
          </a:xfrm>
          <a:prstGeom prst="roundRect">
            <a:avLst>
              <a:gd name="adj" fmla="val 2286"/>
            </a:avLst>
          </a:prstGeom>
          <a:solidFill>
            <a:srgbClr val="1A1718"/>
          </a:solidFill>
          <a:ln/>
          <a:effectLst>
            <a:outerShdw blurRad="889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193100" y="2292039"/>
            <a:ext cx="512051" cy="512051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33" y="2425172"/>
            <a:ext cx="245785" cy="2457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27068" y="2292039"/>
            <a:ext cx="3474633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일괄변경 · 미리보기</a:t>
            </a:r>
            <a:endParaRPr lang="en-US" sz="1533" dirty="0"/>
          </a:p>
        </p:txBody>
      </p:sp>
      <p:sp>
        <p:nvSpPr>
          <p:cNvPr id="18" name="Shape 15"/>
          <p:cNvSpPr/>
          <p:nvPr/>
        </p:nvSpPr>
        <p:spPr>
          <a:xfrm>
            <a:off x="7193100" y="2974774"/>
            <a:ext cx="4084218" cy="950952"/>
          </a:xfrm>
          <a:prstGeom prst="roundRect">
            <a:avLst>
              <a:gd name="adj" fmla="val 8974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51592" y="2974774"/>
            <a:ext cx="3767234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30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 </a:t>
            </a:r>
            <a:r>
              <a:rPr lang="en-US" sz="1307" i="1" dirty="0">
                <a:solidFill>
                  <a:srgbClr val="F1E9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“창원 PKG 수주 전 품목 수량 10% 증량, 납기 8/20으로 일괄 변경해줘”</a:t>
            </a:r>
            <a:endParaRPr lang="en-US" sz="1307" dirty="0"/>
          </a:p>
        </p:txBody>
      </p:sp>
      <p:sp>
        <p:nvSpPr>
          <p:cNvPr id="20" name="Text 17"/>
          <p:cNvSpPr/>
          <p:nvPr/>
        </p:nvSpPr>
        <p:spPr>
          <a:xfrm>
            <a:off x="7241867" y="4096410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품목 14건 (프로젝트 전체)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7241867" y="4425585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품목 +10% (금액 재계산)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7241867" y="4754761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2026-08-05 → 2026-08-20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241867" y="5083937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변경안 — 확정 대기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7193100" y="5632563"/>
            <a:ext cx="4084218" cy="512051"/>
          </a:xfrm>
          <a:prstGeom prst="roundRect">
            <a:avLst>
              <a:gd name="adj" fmla="val 14286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93100" y="5632563"/>
            <a:ext cx="4084218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 후 확정 반영  ·  수주 변경 확정함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관리 · 일괄변경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프로젝트별 발주 수량·납기일 일괄변경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Update of PO Quantity &amp; Delivery Dates via LLM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48205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89572"/>
            <a:ext cx="5973931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3419" y="2389572"/>
            <a:ext cx="5608180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일괄변경 (LLM)  /  발주 변경 확정함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670543" y="3121074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개요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43" y="3438058"/>
            <a:ext cx="5973931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발주 정보의 수량·납기일(입고예정 포함)을 LLM 명령으로 일괄 변경하고, 발주 변경 확정함에서 확인·확정 후 거래처 발주 정보에 반영하는 메뉴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43" y="4267093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43" y="4584077"/>
            <a:ext cx="5973931" cy="173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프로젝트·거래처·품목군 조건으로 변경 대상 발주 자동 필터링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수량·단가·납기(ETA) 일괄 수정안 생성, 입고 완료분은 자동 제외 처리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변경 시 리드타임 재역산 및 롱리드·지연 위험 자동 재평가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시 발주서 개정(Rev.) 이력 관리 및 변경 통보 대상 자동 정리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변경 확정함: 전후 비교·영향도 확인 후 승인해야 반영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949266" y="2048205"/>
            <a:ext cx="4571886" cy="4267093"/>
          </a:xfrm>
          <a:prstGeom prst="roundRect">
            <a:avLst>
              <a:gd name="adj" fmla="val 2286"/>
            </a:avLst>
          </a:prstGeom>
          <a:solidFill>
            <a:srgbClr val="1A1718"/>
          </a:solidFill>
          <a:ln/>
          <a:effectLst>
            <a:outerShdw blurRad="889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193100" y="2292039"/>
            <a:ext cx="512051" cy="512051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33" y="2425172"/>
            <a:ext cx="245785" cy="2457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27068" y="2292039"/>
            <a:ext cx="3474633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일괄변경 · 미리보기</a:t>
            </a:r>
            <a:endParaRPr lang="en-US" sz="1533" dirty="0"/>
          </a:p>
        </p:txBody>
      </p:sp>
      <p:sp>
        <p:nvSpPr>
          <p:cNvPr id="18" name="Shape 15"/>
          <p:cNvSpPr/>
          <p:nvPr/>
        </p:nvSpPr>
        <p:spPr>
          <a:xfrm>
            <a:off x="7193100" y="2974774"/>
            <a:ext cx="4084218" cy="950952"/>
          </a:xfrm>
          <a:prstGeom prst="roundRect">
            <a:avLst>
              <a:gd name="adj" fmla="val 8974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51592" y="2974774"/>
            <a:ext cx="3767234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30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 </a:t>
            </a:r>
            <a:r>
              <a:rPr lang="en-US" sz="1307" i="1" dirty="0">
                <a:solidFill>
                  <a:srgbClr val="F1E9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“창원 PKG 미입고 발주 납기 전부 2주 연장하고, 볼트류 수량 150개로 맞춰줘”</a:t>
            </a:r>
            <a:endParaRPr lang="en-US" sz="1307" dirty="0"/>
          </a:p>
        </p:txBody>
      </p:sp>
      <p:sp>
        <p:nvSpPr>
          <p:cNvPr id="20" name="Text 17"/>
          <p:cNvSpPr/>
          <p:nvPr/>
        </p:nvSpPr>
        <p:spPr>
          <a:xfrm>
            <a:off x="7241867" y="4096410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발주 6건 (입고분 제외)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7241867" y="4425585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납기(ETA)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건 +14일 연장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7241867" y="4754761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볼트류 200 → 150 EA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241867" y="5083937"/>
            <a:ext cx="402325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 </a:t>
            </a:r>
            <a:r>
              <a:rPr lang="en-US" sz="124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변경안 — 확정 대기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7193100" y="5632563"/>
            <a:ext cx="4084218" cy="512051"/>
          </a:xfrm>
          <a:prstGeom prst="roundRect">
            <a:avLst>
              <a:gd name="adj" fmla="val 14286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93100" y="5632563"/>
            <a:ext cx="4084218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 후 확정 반영  ·  발주 변경 확정함</a:t>
            </a:r>
            <a:endParaRPr lang="en-US" sz="1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연계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변경 → PMS 일정 자동 반영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Delivery Date Change → Automatic PMS Schedule Sync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23821"/>
            <a:ext cx="3657509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40805"/>
            <a:ext cx="10850609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77802" y="2340805"/>
            <a:ext cx="10484858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반영 확정함 (납기 변경 연계)   —   수주·발주 납기 변경 확정 건을 PMS 일정에 반영하기 전 최종 확인하는 메뉴</a:t>
            </a:r>
            <a:endParaRPr lang="en-US" sz="1533" dirty="0"/>
          </a:p>
        </p:txBody>
      </p:sp>
      <p:sp>
        <p:nvSpPr>
          <p:cNvPr id="10" name="Shape 8"/>
          <p:cNvSpPr/>
          <p:nvPr/>
        </p:nvSpPr>
        <p:spPr>
          <a:xfrm>
            <a:off x="670543" y="3194224"/>
            <a:ext cx="2413956" cy="1975055"/>
          </a:xfrm>
          <a:prstGeom prst="roundRect">
            <a:avLst>
              <a:gd name="adj" fmla="val 4321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2729" y="3389291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221" y="3547783"/>
            <a:ext cx="292601" cy="29260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77" y="4072026"/>
            <a:ext cx="2218889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변경 확정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792460" y="4437777"/>
            <a:ext cx="2170122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수주/발주 일괄변경</a:t>
            </a:r>
            <a:endParaRPr lang="en-US" sz="1173" dirty="0"/>
          </a:p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확정함에서 승인</a:t>
            </a:r>
            <a:endParaRPr lang="en-US" sz="1173" dirty="0"/>
          </a:p>
        </p:txBody>
      </p:sp>
      <p:sp>
        <p:nvSpPr>
          <p:cNvPr id="15" name="Text 12"/>
          <p:cNvSpPr/>
          <p:nvPr/>
        </p:nvSpPr>
        <p:spPr>
          <a:xfrm>
            <a:off x="3121074" y="3925726"/>
            <a:ext cx="365751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133" dirty="0"/>
          </a:p>
        </p:txBody>
      </p:sp>
      <p:sp>
        <p:nvSpPr>
          <p:cNvPr id="16" name="Shape 13"/>
          <p:cNvSpPr/>
          <p:nvPr/>
        </p:nvSpPr>
        <p:spPr>
          <a:xfrm>
            <a:off x="3499017" y="3194224"/>
            <a:ext cx="2413956" cy="1975055"/>
          </a:xfrm>
          <a:prstGeom prst="roundRect">
            <a:avLst>
              <a:gd name="adj" fmla="val 4321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401202" y="3389291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94" y="3547783"/>
            <a:ext cx="292601" cy="29260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96550" y="4072026"/>
            <a:ext cx="2218889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일정 자동 산출</a:t>
            </a:r>
            <a:endParaRPr lang="en-US" sz="1467" dirty="0"/>
          </a:p>
        </p:txBody>
      </p:sp>
      <p:sp>
        <p:nvSpPr>
          <p:cNvPr id="20" name="Text 16"/>
          <p:cNvSpPr/>
          <p:nvPr/>
        </p:nvSpPr>
        <p:spPr>
          <a:xfrm>
            <a:off x="3620933" y="4437777"/>
            <a:ext cx="2170122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단계(P1~P6) 계획·발주</a:t>
            </a:r>
            <a:endParaRPr lang="en-US" sz="1173" dirty="0"/>
          </a:p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ETA·리드타임 재역산</a:t>
            </a:r>
            <a:endParaRPr lang="en-US" sz="1173" dirty="0"/>
          </a:p>
        </p:txBody>
      </p:sp>
      <p:sp>
        <p:nvSpPr>
          <p:cNvPr id="21" name="Text 17"/>
          <p:cNvSpPr/>
          <p:nvPr/>
        </p:nvSpPr>
        <p:spPr>
          <a:xfrm>
            <a:off x="5949547" y="3925726"/>
            <a:ext cx="365751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133" dirty="0"/>
          </a:p>
        </p:txBody>
      </p:sp>
      <p:sp>
        <p:nvSpPr>
          <p:cNvPr id="22" name="Shape 18"/>
          <p:cNvSpPr/>
          <p:nvPr/>
        </p:nvSpPr>
        <p:spPr>
          <a:xfrm>
            <a:off x="6327490" y="3194224"/>
            <a:ext cx="2413956" cy="1975055"/>
          </a:xfrm>
          <a:prstGeom prst="roundRect">
            <a:avLst>
              <a:gd name="adj" fmla="val 4321"/>
            </a:avLst>
          </a:prstGeom>
          <a:solidFill>
            <a:srgbClr val="1A1718"/>
          </a:solidFill>
          <a:ln/>
          <a:effectLst>
            <a:outerShdw blurRad="63500" dist="25400" dir="5400000" algn="bl" rotWithShape="0">
              <a:srgbClr val="8C807E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7229675" y="3389291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167" y="3547783"/>
            <a:ext cx="292601" cy="2926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25023" y="4072026"/>
            <a:ext cx="2218889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반영 확정함</a:t>
            </a:r>
            <a:endParaRPr lang="en-US" sz="1467" dirty="0"/>
          </a:p>
        </p:txBody>
      </p:sp>
      <p:sp>
        <p:nvSpPr>
          <p:cNvPr id="26" name="Text 21"/>
          <p:cNvSpPr/>
          <p:nvPr/>
        </p:nvSpPr>
        <p:spPr>
          <a:xfrm>
            <a:off x="6449407" y="4437777"/>
            <a:ext cx="2170122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DFC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전후 간트 비교,</a:t>
            </a:r>
            <a:endParaRPr lang="en-US" sz="1173" dirty="0"/>
          </a:p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DFC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확인·확정</a:t>
            </a:r>
            <a:endParaRPr lang="en-US" sz="1173" dirty="0"/>
          </a:p>
        </p:txBody>
      </p:sp>
      <p:sp>
        <p:nvSpPr>
          <p:cNvPr id="27" name="Text 22"/>
          <p:cNvSpPr/>
          <p:nvPr/>
        </p:nvSpPr>
        <p:spPr>
          <a:xfrm>
            <a:off x="8778021" y="3925726"/>
            <a:ext cx="365751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133" dirty="0"/>
          </a:p>
        </p:txBody>
      </p:sp>
      <p:sp>
        <p:nvSpPr>
          <p:cNvPr id="28" name="Shape 23"/>
          <p:cNvSpPr/>
          <p:nvPr/>
        </p:nvSpPr>
        <p:spPr>
          <a:xfrm>
            <a:off x="9155963" y="3194224"/>
            <a:ext cx="2413956" cy="1975055"/>
          </a:xfrm>
          <a:prstGeom prst="roundRect">
            <a:avLst>
              <a:gd name="adj" fmla="val 4321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10058149" y="3389291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641" y="3547783"/>
            <a:ext cx="292601" cy="29260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53497" y="4072026"/>
            <a:ext cx="2218889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 일정 반영</a:t>
            </a:r>
            <a:endParaRPr lang="en-US" sz="1467" dirty="0"/>
          </a:p>
        </p:txBody>
      </p:sp>
      <p:sp>
        <p:nvSpPr>
          <p:cNvPr id="32" name="Text 26"/>
          <p:cNvSpPr/>
          <p:nvPr/>
        </p:nvSpPr>
        <p:spPr>
          <a:xfrm>
            <a:off x="9277880" y="4437777"/>
            <a:ext cx="2170122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간트·대시보드 갱신,</a:t>
            </a:r>
            <a:endParaRPr lang="en-US" sz="1173" dirty="0"/>
          </a:p>
          <a:p>
            <a:pPr marL="0" indent="0" algn="ctr">
              <a:lnSpc>
                <a:spcPts val="1467"/>
              </a:lnSpc>
              <a:buNone/>
            </a:pPr>
            <a:r>
              <a:rPr lang="en-US" sz="117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위험 재평가·알림</a:t>
            </a:r>
            <a:endParaRPr lang="en-US" sz="1173" dirty="0"/>
          </a:p>
        </p:txBody>
      </p:sp>
      <p:sp>
        <p:nvSpPr>
          <p:cNvPr id="33" name="Shape 27"/>
          <p:cNvSpPr/>
          <p:nvPr/>
        </p:nvSpPr>
        <p:spPr>
          <a:xfrm>
            <a:off x="670543" y="5413113"/>
            <a:ext cx="10850609" cy="755885"/>
          </a:xfrm>
          <a:prstGeom prst="roundRect">
            <a:avLst>
              <a:gd name="adj" fmla="val 9677"/>
            </a:avLst>
          </a:prstGeom>
          <a:solidFill>
            <a:srgbClr val="F3EC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914377" y="5413113"/>
            <a:ext cx="1042389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73" b="1" dirty="0">
                <a:solidFill>
                  <a:srgbClr val="5E1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연계 — </a:t>
            </a:r>
            <a:r>
              <a:rPr lang="en-US" sz="137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납기 변경은 단계별 계획 일정·기성 회차 일정에, 발주 납기 변경은 입고예정(ETA)·롱리드 관리에 각각 반영됩니다. 일정 반영도 사용자가 확정하기 전에는 기존 일정이 유지됩니다.</a:t>
            </a:r>
            <a:endParaRPr lang="en-US" sz="137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확인·확정 체계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사용자 확인·확정 메뉴 구성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Per-Function User Confirmation Menus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0543" y="2096972"/>
          <a:ext cx="10850609" cy="3559976"/>
        </p:xfrm>
        <a:graphic>
          <a:graphicData uri="http://schemas.openxmlformats.org/drawingml/2006/table">
            <a:tbl>
              <a:tblPr/>
              <a:tblGrid>
                <a:gridCol w="3108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기능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확인·확정 전용 메뉴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항목(미리보기)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 반영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프로젝트별 수주 생성 · 추가 수주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b="1" dirty="0">
                          <a:solidFill>
                            <a:srgbClr val="5E19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수주 확정함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발주처·품목·수량·금액·납기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수주 등록 · 프로젝트/단계 생성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프로젝트별 발주 생성 · 추가 발주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b="1" dirty="0">
                          <a:solidFill>
                            <a:srgbClr val="5E19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 확정함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품목·단가·수량·L/T·ETA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발주(PO) 생성 · 입고 연계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수주 수량·납기일 일괄변경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b="1" dirty="0">
                          <a:solidFill>
                            <a:srgbClr val="5E19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수주 변경 확정함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품목 · 변경 전→후 비교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수주 갱신 · 금액 재계산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 수량·납기일 일괄변경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b="1" dirty="0">
                          <a:solidFill>
                            <a:srgbClr val="5E19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 변경 확정함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발주 · 수량/ETA 전→후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 개정(Rev.) · ETA 갱신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납기 변경 → PMS 일정 반영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b="1" dirty="0">
                          <a:solidFill>
                            <a:srgbClr val="5E19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반영 확정함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전후 간트 · 영향 단계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7" dirty="0">
                          <a:solidFill>
                            <a:srgbClr val="3A36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일정·대시보드 갱신</a:t>
                      </a:r>
                      <a:endParaRPr lang="en-US" sz="1307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0" marR="73150" marT="73150" marB="73150" anchor="ctr">
                    <a:lnL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70543" y="5973931"/>
            <a:ext cx="10850609" cy="512051"/>
          </a:xfrm>
          <a:prstGeom prst="roundRect">
            <a:avLst>
              <a:gd name="adj" fmla="val 14286"/>
            </a:avLst>
          </a:prstGeom>
          <a:solidFill>
            <a:srgbClr val="F3EC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377" y="5973931"/>
            <a:ext cx="10423899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5E1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— </a:t>
            </a: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확정함은 대기 목록 · 미리보기 · 승인/반려 · 반려 사유 · 감사 로그를 기본 제공하며, 확정 전에는 어떤 데이터도 변경되지 않습니다.</a:t>
            </a:r>
            <a:endParaRPr lang="en-US" sz="13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프로세스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입력·변경 공통 처리 파이프라인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 LLM Processing Pipeline with Mandatory Confirmation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1917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82" y="2693877"/>
            <a:ext cx="269193" cy="2691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0543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1067" dirty="0"/>
          </a:p>
        </p:txBody>
      </p:sp>
      <p:sp>
        <p:nvSpPr>
          <p:cNvPr id="11" name="Text 8"/>
          <p:cNvSpPr/>
          <p:nvPr/>
        </p:nvSpPr>
        <p:spPr>
          <a:xfrm>
            <a:off x="73150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명령 입력</a:t>
            </a:r>
            <a:endParaRPr lang="en-US" sz="1307" dirty="0"/>
          </a:p>
        </p:txBody>
      </p:sp>
      <p:sp>
        <p:nvSpPr>
          <p:cNvPr id="12" name="Text 9"/>
          <p:cNvSpPr/>
          <p:nvPr/>
        </p:nvSpPr>
        <p:spPr>
          <a:xfrm>
            <a:off x="73150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모바일·PC</a:t>
            </a:r>
            <a:endParaRPr lang="en-US" sz="1093" dirty="0"/>
          </a:p>
        </p:txBody>
      </p:sp>
      <p:sp>
        <p:nvSpPr>
          <p:cNvPr id="13" name="Shape 10"/>
          <p:cNvSpPr/>
          <p:nvPr/>
        </p:nvSpPr>
        <p:spPr>
          <a:xfrm>
            <a:off x="2505393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05402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832" y="2693877"/>
            <a:ext cx="269193" cy="2691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05393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1067" dirty="0"/>
          </a:p>
        </p:txBody>
      </p:sp>
      <p:sp>
        <p:nvSpPr>
          <p:cNvPr id="17" name="Text 13"/>
          <p:cNvSpPr/>
          <p:nvPr/>
        </p:nvSpPr>
        <p:spPr>
          <a:xfrm>
            <a:off x="256635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의도·엔티티 해석</a:t>
            </a:r>
            <a:endParaRPr lang="en-US" sz="1307" dirty="0"/>
          </a:p>
        </p:txBody>
      </p:sp>
      <p:sp>
        <p:nvSpPr>
          <p:cNvPr id="18" name="Text 14"/>
          <p:cNvSpPr/>
          <p:nvPr/>
        </p:nvSpPr>
        <p:spPr>
          <a:xfrm>
            <a:off x="256635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분석</a:t>
            </a:r>
            <a:endParaRPr lang="en-US" sz="1093" dirty="0"/>
          </a:p>
        </p:txBody>
      </p:sp>
      <p:sp>
        <p:nvSpPr>
          <p:cNvPr id="19" name="Shape 15"/>
          <p:cNvSpPr/>
          <p:nvPr/>
        </p:nvSpPr>
        <p:spPr>
          <a:xfrm>
            <a:off x="4340243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88887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2" y="2693877"/>
            <a:ext cx="269193" cy="2691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40243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1067" dirty="0"/>
          </a:p>
        </p:txBody>
      </p:sp>
      <p:sp>
        <p:nvSpPr>
          <p:cNvPr id="23" name="Text 18"/>
          <p:cNvSpPr/>
          <p:nvPr/>
        </p:nvSpPr>
        <p:spPr>
          <a:xfrm>
            <a:off x="440120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매핑·검증</a:t>
            </a:r>
            <a:endParaRPr lang="en-US" sz="1307" dirty="0"/>
          </a:p>
        </p:txBody>
      </p:sp>
      <p:sp>
        <p:nvSpPr>
          <p:cNvPr id="24" name="Text 19"/>
          <p:cNvSpPr/>
          <p:nvPr/>
        </p:nvSpPr>
        <p:spPr>
          <a:xfrm>
            <a:off x="440120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메뉴·필드·규칙</a:t>
            </a:r>
            <a:endParaRPr lang="en-US" sz="1093" dirty="0"/>
          </a:p>
        </p:txBody>
      </p:sp>
      <p:sp>
        <p:nvSpPr>
          <p:cNvPr id="25" name="Shape 20"/>
          <p:cNvSpPr/>
          <p:nvPr/>
        </p:nvSpPr>
        <p:spPr>
          <a:xfrm>
            <a:off x="6175094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72372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533" y="2693877"/>
            <a:ext cx="269193" cy="2691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75094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</a:t>
            </a:r>
            <a:endParaRPr lang="en-US" sz="1067" dirty="0"/>
          </a:p>
        </p:txBody>
      </p:sp>
      <p:sp>
        <p:nvSpPr>
          <p:cNvPr id="29" name="Text 23"/>
          <p:cNvSpPr/>
          <p:nvPr/>
        </p:nvSpPr>
        <p:spPr>
          <a:xfrm>
            <a:off x="623605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변경안 대기 등록</a:t>
            </a:r>
            <a:endParaRPr lang="en-US" sz="1307" dirty="0"/>
          </a:p>
        </p:txBody>
      </p:sp>
      <p:sp>
        <p:nvSpPr>
          <p:cNvPr id="30" name="Text 24"/>
          <p:cNvSpPr/>
          <p:nvPr/>
        </p:nvSpPr>
        <p:spPr>
          <a:xfrm>
            <a:off x="623605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 생성</a:t>
            </a:r>
            <a:endParaRPr lang="en-US" sz="1093" dirty="0"/>
          </a:p>
        </p:txBody>
      </p:sp>
      <p:sp>
        <p:nvSpPr>
          <p:cNvPr id="31" name="Shape 25"/>
          <p:cNvSpPr/>
          <p:nvPr/>
        </p:nvSpPr>
        <p:spPr>
          <a:xfrm>
            <a:off x="8009944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1A1718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855857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4383" y="2693877"/>
            <a:ext cx="269193" cy="26919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009944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</a:t>
            </a:r>
            <a:endParaRPr lang="en-US" sz="1067" dirty="0"/>
          </a:p>
        </p:txBody>
      </p:sp>
      <p:sp>
        <p:nvSpPr>
          <p:cNvPr id="35" name="Text 28"/>
          <p:cNvSpPr/>
          <p:nvPr/>
        </p:nvSpPr>
        <p:spPr>
          <a:xfrm>
            <a:off x="807090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메뉴 확인·확정</a:t>
            </a:r>
            <a:endParaRPr lang="en-US" sz="1307" dirty="0"/>
          </a:p>
        </p:txBody>
      </p:sp>
      <p:sp>
        <p:nvSpPr>
          <p:cNvPr id="36" name="Text 29"/>
          <p:cNvSpPr/>
          <p:nvPr/>
        </p:nvSpPr>
        <p:spPr>
          <a:xfrm>
            <a:off x="807090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DFC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승인/반려</a:t>
            </a:r>
            <a:endParaRPr lang="en-US" sz="1093" dirty="0"/>
          </a:p>
        </p:txBody>
      </p:sp>
      <p:sp>
        <p:nvSpPr>
          <p:cNvPr id="37" name="Shape 30"/>
          <p:cNvSpPr/>
          <p:nvPr/>
        </p:nvSpPr>
        <p:spPr>
          <a:xfrm>
            <a:off x="9844794" y="2377381"/>
            <a:ext cx="1658071" cy="2194505"/>
          </a:xfrm>
          <a:prstGeom prst="roundRect">
            <a:avLst>
              <a:gd name="adj" fmla="val 514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10393420" y="2548064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233" y="2693877"/>
            <a:ext cx="269193" cy="26919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844794" y="3182032"/>
            <a:ext cx="165807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</a:t>
            </a:r>
            <a:endParaRPr lang="en-US" sz="1067" dirty="0"/>
          </a:p>
        </p:txBody>
      </p:sp>
      <p:sp>
        <p:nvSpPr>
          <p:cNvPr id="41" name="Text 33"/>
          <p:cNvSpPr/>
          <p:nvPr/>
        </p:nvSpPr>
        <p:spPr>
          <a:xfrm>
            <a:off x="9905752" y="3425866"/>
            <a:ext cx="1536154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33"/>
              </a:lnSpc>
              <a:buNone/>
            </a:pPr>
            <a:r>
              <a:rPr lang="en-US" sz="130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반영·일정 연계</a:t>
            </a:r>
            <a:endParaRPr lang="en-US" sz="1307" dirty="0"/>
          </a:p>
        </p:txBody>
      </p:sp>
      <p:sp>
        <p:nvSpPr>
          <p:cNvPr id="42" name="Text 34"/>
          <p:cNvSpPr/>
          <p:nvPr/>
        </p:nvSpPr>
        <p:spPr>
          <a:xfrm>
            <a:off x="9905752" y="4132985"/>
            <a:ext cx="1536154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3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DB·간트·감사로그</a:t>
            </a:r>
            <a:endParaRPr lang="en-US" sz="1093" dirty="0"/>
          </a:p>
        </p:txBody>
      </p:sp>
      <p:sp>
        <p:nvSpPr>
          <p:cNvPr id="43" name="Shape 35"/>
          <p:cNvSpPr/>
          <p:nvPr/>
        </p:nvSpPr>
        <p:spPr>
          <a:xfrm>
            <a:off x="670543" y="4949828"/>
            <a:ext cx="10850609" cy="1219170"/>
          </a:xfrm>
          <a:prstGeom prst="roundRect">
            <a:avLst>
              <a:gd name="adj" fmla="val 7000"/>
            </a:avLst>
          </a:prstGeom>
          <a:solidFill>
            <a:srgbClr val="1A1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975336" y="5242429"/>
            <a:ext cx="633968" cy="63396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167" y="5407261"/>
            <a:ext cx="304305" cy="30430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828754" y="5047362"/>
            <a:ext cx="9509522" cy="104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게이트(STEP 05)가 유일한 반영 경로입니다. </a:t>
            </a:r>
            <a:endParaRPr lang="en-US" sz="1400" dirty="0"/>
          </a:p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생성한 모든 수주·발주·일괄변경·일정 변경안은 Draft 상태로 대기하며, 사용자가 확정함에서 승인해야만 STEP 06 반영이 실행됩니다. 반영 이력은 전 건 감사 로그로 추적됩니다.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4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회계 연동</a:t>
            </a:r>
          </a:p>
        </p:txBody>
      </p:sp>
      <p:sp>
        <p:nvSpPr>
          <p:cNvPr id="235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결산 → 더존 아마란스 회계전표 연동</a:t>
            </a:r>
          </a:p>
        </p:txBody>
      </p:sp>
      <p:sp>
        <p:nvSpPr>
          <p:cNvPr id="236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Settlement → Douzone Amaranth FI (API)</a:t>
            </a:r>
          </a:p>
        </p:txBody>
      </p:sp>
      <p:sp>
        <p:nvSpPr>
          <p:cNvPr id="237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38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23</a:t>
            </a:r>
          </a:p>
        </p:txBody>
      </p:sp>
      <p:sp>
        <p:nvSpPr>
          <p:cNvPr id="239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0" name="panel"/>
          <p:cNvSpPr/>
          <p:nvPr/>
        </p:nvSpPr>
        <p:spPr>
          <a:xfrm>
            <a:off x="600000" y="1900000"/>
            <a:ext cx="5100000" cy="2000000"/>
          </a:xfrm>
          <a:prstGeom prst="roundRect">
            <a:avLst>
              <a:gd name="adj" fmla="val 3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41" name="l1"/>
          <p:cNvSpPr txBox="1"/>
          <p:nvPr/>
        </p:nvSpPr>
        <p:spPr>
          <a:xfrm>
            <a:off x="900000" y="2080000"/>
            <a:ext cx="4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242" name="v1"/>
          <p:cNvSpPr txBox="1"/>
          <p:nvPr/>
        </p:nvSpPr>
        <p:spPr>
          <a:xfrm>
            <a:off x="900000" y="2360000"/>
            <a:ext cx="4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매출·매입 결산 / 회계전표 연동</a:t>
            </a:r>
          </a:p>
        </p:txBody>
      </p:sp>
      <p:sp>
        <p:nvSpPr>
          <p:cNvPr id="243" name="l2"/>
          <p:cNvSpPr txBox="1"/>
          <p:nvPr/>
        </p:nvSpPr>
        <p:spPr>
          <a:xfrm>
            <a:off x="900000" y="2990000"/>
            <a:ext cx="4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244" name="v2"/>
          <p:cNvSpPr txBox="1"/>
          <p:nvPr/>
        </p:nvSpPr>
        <p:spPr>
          <a:xfrm>
            <a:off x="900000" y="3270000"/>
            <a:ext cx="4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영업 매출 결산과 구매 매입 결산을 마감하면 확정 데이터를 더존 아마란스로 API 연동해 회계전표(FI)를 자동 생성·전송하는 결산–회계 연계 메뉴</a:t>
            </a:r>
          </a:p>
        </p:txBody>
      </p:sp>
      <p:sp>
        <p:nvSpPr>
          <p:cNvPr id="245" name="dot"/>
          <p:cNvSpPr/>
          <p:nvPr/>
        </p:nvSpPr>
        <p:spPr>
          <a:xfrm>
            <a:off x="620000" y="414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6" name="rh"/>
          <p:cNvSpPr txBox="1"/>
          <p:nvPr/>
        </p:nvSpPr>
        <p:spPr>
          <a:xfrm>
            <a:off x="840000" y="4070000"/>
            <a:ext cx="49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247" name="bm"/>
          <p:cNvSpPr/>
          <p:nvPr/>
        </p:nvSpPr>
        <p:spPr>
          <a:xfrm>
            <a:off x="620000" y="457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8" name="bt"/>
          <p:cNvSpPr txBox="1"/>
          <p:nvPr/>
        </p:nvSpPr>
        <p:spPr>
          <a:xfrm>
            <a:off x="840000" y="452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매출 결산(수주·기성 확정)·매입 결산(구매·입고 확정) → 회계전표 자동 생성·전송</a:t>
            </a:r>
          </a:p>
        </p:txBody>
      </p:sp>
      <p:sp>
        <p:nvSpPr>
          <p:cNvPr id="249" name="bm"/>
          <p:cNvSpPr/>
          <p:nvPr/>
        </p:nvSpPr>
        <p:spPr>
          <a:xfrm>
            <a:off x="620000" y="509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0" name="bt"/>
          <p:cNvSpPr txBox="1"/>
          <p:nvPr/>
        </p:nvSpPr>
        <p:spPr>
          <a:xfrm>
            <a:off x="840000" y="504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더존 아마란스 회계 API(REST) 연동, 계정·세금계산서 매핑 및 전표 상태 동기화</a:t>
            </a:r>
          </a:p>
        </p:txBody>
      </p:sp>
      <p:sp>
        <p:nvSpPr>
          <p:cNvPr id="251" name="bm"/>
          <p:cNvSpPr/>
          <p:nvPr/>
        </p:nvSpPr>
        <p:spPr>
          <a:xfrm>
            <a:off x="620000" y="561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2" name="bt"/>
          <p:cNvSpPr txBox="1"/>
          <p:nvPr/>
        </p:nvSpPr>
        <p:spPr>
          <a:xfrm>
            <a:off x="840000" y="556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중복·정합성 검증 후 전송, 실패 건 재전송·이력 관리</a:t>
            </a:r>
          </a:p>
        </p:txBody>
      </p:sp>
      <p:sp>
        <p:nvSpPr>
          <p:cNvPr id="253" name="bm"/>
          <p:cNvSpPr/>
          <p:nvPr/>
        </p:nvSpPr>
        <p:spPr>
          <a:xfrm>
            <a:off x="620000" y="613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4" name="bt"/>
          <p:cNvSpPr txBox="1"/>
          <p:nvPr/>
        </p:nvSpPr>
        <p:spPr>
          <a:xfrm>
            <a:off x="840000" y="608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[SYU] </a:t>
            </a: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더존 전자결재·FI 전표 자동화 검증 경험 기반 안정적 연동</a:t>
            </a:r>
          </a:p>
        </p:txBody>
      </p:sp>
      <p:sp>
        <p:nvSpPr>
          <p:cNvPr id="255" name="win"/>
          <p:cNvSpPr/>
          <p:nvPr/>
        </p:nvSpPr>
        <p:spPr>
          <a:xfrm>
            <a:off x="5900000" y="1900000"/>
            <a:ext cx="5650000" cy="3980000"/>
          </a:xfrm>
          <a:prstGeom prst="rect">
            <a:avLst/>
          </a:prstGeom>
          <a:solidFill>
            <a:srgbClr val="FFFFFF"/>
          </a:solidFill>
          <a:ln>
            <a:solidFill>
              <a:srgbClr val="DAD5D4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56" name="titlebar"/>
          <p:cNvSpPr/>
          <p:nvPr/>
        </p:nvSpPr>
        <p:spPr>
          <a:xfrm>
            <a:off x="5900000" y="1900000"/>
            <a:ext cx="5650000" cy="420000"/>
          </a:xfrm>
          <a:prstGeom prst="rect">
            <a:avLst/>
          </a:prstGeom>
          <a:solidFill>
            <a:srgbClr val="F2EEE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7" name="dot"/>
          <p:cNvSpPr/>
          <p:nvPr/>
        </p:nvSpPr>
        <p:spPr>
          <a:xfrm>
            <a:off x="6050000" y="2050000"/>
            <a:ext cx="130000" cy="13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8" name="dot"/>
          <p:cNvSpPr/>
          <p:nvPr/>
        </p:nvSpPr>
        <p:spPr>
          <a:xfrm>
            <a:off x="6240000" y="2050000"/>
            <a:ext cx="130000" cy="130000"/>
          </a:xfrm>
          <a:prstGeom prst="ellipse">
            <a:avLst/>
          </a:prstGeom>
          <a:solidFill>
            <a:srgbClr val="9B334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9" name="dot"/>
          <p:cNvSpPr/>
          <p:nvPr/>
        </p:nvSpPr>
        <p:spPr>
          <a:xfrm>
            <a:off x="6430000" y="2050000"/>
            <a:ext cx="130000" cy="13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60" name="wtt"/>
          <p:cNvSpPr txBox="1"/>
          <p:nvPr/>
        </p:nvSpPr>
        <p:spPr>
          <a:xfrm>
            <a:off x="5900000" y="1900000"/>
            <a:ext cx="565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회계전표 전송</a:t>
            </a:r>
          </a:p>
        </p:txBody>
      </p:sp>
      <p:sp>
        <p:nvSpPr>
          <p:cNvPr id="261" name="kpi"/>
          <p:cNvSpPr/>
          <p:nvPr/>
        </p:nvSpPr>
        <p:spPr>
          <a:xfrm>
            <a:off x="6180000" y="2460000"/>
            <a:ext cx="2445000" cy="600000"/>
          </a:xfrm>
          <a:prstGeom prst="roundRect">
            <a:avLst>
              <a:gd name="adj" fmla="val 8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62" name="kl"/>
          <p:cNvSpPr txBox="1"/>
          <p:nvPr/>
        </p:nvSpPr>
        <p:spPr>
          <a:xfrm>
            <a:off x="6330000" y="2610000"/>
            <a:ext cx="2145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영업 매출 결산</a:t>
            </a:r>
          </a:p>
        </p:txBody>
      </p:sp>
      <p:sp>
        <p:nvSpPr>
          <p:cNvPr id="263" name="kv"/>
          <p:cNvSpPr txBox="1"/>
          <p:nvPr/>
        </p:nvSpPr>
        <p:spPr>
          <a:xfrm>
            <a:off x="6330000" y="2786785"/>
            <a:ext cx="2145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1.80억</a:t>
            </a:r>
          </a:p>
        </p:txBody>
      </p:sp>
      <p:sp>
        <p:nvSpPr>
          <p:cNvPr id="264" name="kpi"/>
          <p:cNvSpPr/>
          <p:nvPr/>
        </p:nvSpPr>
        <p:spPr>
          <a:xfrm>
            <a:off x="8825000" y="2460000"/>
            <a:ext cx="2445000" cy="600000"/>
          </a:xfrm>
          <a:prstGeom prst="roundRect">
            <a:avLst>
              <a:gd name="adj" fmla="val 8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65" name="kl"/>
          <p:cNvSpPr txBox="1"/>
          <p:nvPr/>
        </p:nvSpPr>
        <p:spPr>
          <a:xfrm>
            <a:off x="8975000" y="2610000"/>
            <a:ext cx="2145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구매 매입 결산</a:t>
            </a:r>
          </a:p>
        </p:txBody>
      </p:sp>
      <p:sp>
        <p:nvSpPr>
          <p:cNvPr id="266" name="kv"/>
          <p:cNvSpPr txBox="1"/>
          <p:nvPr/>
        </p:nvSpPr>
        <p:spPr>
          <a:xfrm>
            <a:off x="8975000" y="2786785"/>
            <a:ext cx="2145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0.85억</a:t>
            </a:r>
          </a:p>
        </p:txBody>
      </p:sp>
      <p:sp>
        <p:nvSpPr>
          <p:cNvPr id="267" name="tr"/>
          <p:cNvSpPr/>
          <p:nvPr/>
        </p:nvSpPr>
        <p:spPr>
          <a:xfrm>
            <a:off x="6180000" y="3220000"/>
            <a:ext cx="5090000" cy="330000"/>
          </a:xfrm>
          <a:prstGeom prst="rect">
            <a:avLst/>
          </a:prstGeom>
          <a:solidFill>
            <a:srgbClr val="202124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68" name="tc"/>
          <p:cNvSpPr txBox="1"/>
          <p:nvPr/>
        </p:nvSpPr>
        <p:spPr>
          <a:xfrm>
            <a:off x="6240000" y="3220000"/>
            <a:ext cx="1650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전표 유형</a:t>
            </a:r>
          </a:p>
        </p:txBody>
      </p:sp>
      <p:sp>
        <p:nvSpPr>
          <p:cNvPr id="269" name="tc"/>
          <p:cNvSpPr txBox="1"/>
          <p:nvPr/>
        </p:nvSpPr>
        <p:spPr>
          <a:xfrm>
            <a:off x="7970600" y="3220000"/>
            <a:ext cx="1447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270" name="tc"/>
          <p:cNvSpPr txBox="1"/>
          <p:nvPr/>
        </p:nvSpPr>
        <p:spPr>
          <a:xfrm>
            <a:off x="9497600" y="3220000"/>
            <a:ext cx="10398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271" name="tc"/>
          <p:cNvSpPr txBox="1"/>
          <p:nvPr/>
        </p:nvSpPr>
        <p:spPr>
          <a:xfrm>
            <a:off x="10617400" y="3220000"/>
            <a:ext cx="632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272" name="tr"/>
          <p:cNvSpPr/>
          <p:nvPr/>
        </p:nvSpPr>
        <p:spPr>
          <a:xfrm>
            <a:off x="6180000" y="3550000"/>
            <a:ext cx="5090000" cy="330000"/>
          </a:xfrm>
          <a:prstGeom prst="rect">
            <a:avLst/>
          </a:prstGeom>
          <a:solidFill>
            <a:srgbClr val="FFFFFF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73" name="tc"/>
          <p:cNvSpPr txBox="1"/>
          <p:nvPr/>
        </p:nvSpPr>
        <p:spPr>
          <a:xfrm>
            <a:off x="6240000" y="3550000"/>
            <a:ext cx="1650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매출 회계전표</a:t>
            </a:r>
          </a:p>
        </p:txBody>
      </p:sp>
      <p:sp>
        <p:nvSpPr>
          <p:cNvPr id="274" name="tc"/>
          <p:cNvSpPr txBox="1"/>
          <p:nvPr/>
        </p:nvSpPr>
        <p:spPr>
          <a:xfrm>
            <a:off x="7970600" y="3550000"/>
            <a:ext cx="1447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180,000,000</a:t>
            </a:r>
          </a:p>
        </p:txBody>
      </p:sp>
      <p:sp>
        <p:nvSpPr>
          <p:cNvPr id="275" name="tc"/>
          <p:cNvSpPr txBox="1"/>
          <p:nvPr/>
        </p:nvSpPr>
        <p:spPr>
          <a:xfrm>
            <a:off x="9497600" y="3550000"/>
            <a:ext cx="10398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더존 API</a:t>
            </a:r>
          </a:p>
        </p:txBody>
      </p:sp>
      <p:sp>
        <p:nvSpPr>
          <p:cNvPr id="276" name="tc"/>
          <p:cNvSpPr txBox="1"/>
          <p:nvPr/>
        </p:nvSpPr>
        <p:spPr>
          <a:xfrm>
            <a:off x="10617400" y="3550000"/>
            <a:ext cx="632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A63A4E"/>
                </a:solidFill>
                <a:latin typeface="Calibri"/>
                <a:ea typeface="맑은 고딕"/>
                <a:cs typeface="맑은 고딕"/>
              </a:rPr>
              <a:t>전송완료</a:t>
            </a:r>
          </a:p>
        </p:txBody>
      </p:sp>
      <p:sp>
        <p:nvSpPr>
          <p:cNvPr id="277" name="tr"/>
          <p:cNvSpPr/>
          <p:nvPr/>
        </p:nvSpPr>
        <p:spPr>
          <a:xfrm>
            <a:off x="6180000" y="3880000"/>
            <a:ext cx="5090000" cy="330000"/>
          </a:xfrm>
          <a:prstGeom prst="rect">
            <a:avLst/>
          </a:prstGeom>
          <a:solidFill>
            <a:srgbClr val="F6F2F1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78" name="tc"/>
          <p:cNvSpPr txBox="1"/>
          <p:nvPr/>
        </p:nvSpPr>
        <p:spPr>
          <a:xfrm>
            <a:off x="6240000" y="3880000"/>
            <a:ext cx="1650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매입 회계전표</a:t>
            </a:r>
          </a:p>
        </p:txBody>
      </p:sp>
      <p:sp>
        <p:nvSpPr>
          <p:cNvPr id="279" name="tc"/>
          <p:cNvSpPr txBox="1"/>
          <p:nvPr/>
        </p:nvSpPr>
        <p:spPr>
          <a:xfrm>
            <a:off x="7970600" y="3880000"/>
            <a:ext cx="1447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85,000,000</a:t>
            </a:r>
          </a:p>
        </p:txBody>
      </p:sp>
      <p:sp>
        <p:nvSpPr>
          <p:cNvPr id="280" name="tc"/>
          <p:cNvSpPr txBox="1"/>
          <p:nvPr/>
        </p:nvSpPr>
        <p:spPr>
          <a:xfrm>
            <a:off x="9497600" y="3880000"/>
            <a:ext cx="10398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더존 API</a:t>
            </a:r>
          </a:p>
        </p:txBody>
      </p:sp>
      <p:sp>
        <p:nvSpPr>
          <p:cNvPr id="281" name="tc"/>
          <p:cNvSpPr txBox="1"/>
          <p:nvPr/>
        </p:nvSpPr>
        <p:spPr>
          <a:xfrm>
            <a:off x="10617400" y="3880000"/>
            <a:ext cx="6326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282" name="btn"/>
          <p:cNvSpPr/>
          <p:nvPr/>
        </p:nvSpPr>
        <p:spPr>
          <a:xfrm>
            <a:off x="9220000" y="4330000"/>
            <a:ext cx="2050000" cy="420000"/>
          </a:xfrm>
          <a:prstGeom prst="roundRect">
            <a:avLst>
              <a:gd name="adj" fmla="val 20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더존 아마란스 전송</a:t>
            </a:r>
          </a:p>
        </p:txBody>
      </p:sp>
      <p:sp>
        <p:nvSpPr>
          <p:cNvPr id="283" name="nt"/>
          <p:cNvSpPr txBox="1"/>
          <p:nvPr/>
        </p:nvSpPr>
        <p:spPr>
          <a:xfrm>
            <a:off x="6180000" y="4360000"/>
            <a:ext cx="289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 i="1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※ 결산 확정 → FI 회계전표 자동 생성·전송 (REST API)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5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구매 연계</a:t>
            </a:r>
          </a:p>
        </p:txBody>
      </p:sp>
      <p:sp>
        <p:nvSpPr>
          <p:cNvPr id="286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구매요청 → LLM 일괄 발주</a:t>
            </a:r>
          </a:p>
        </p:txBody>
      </p:sp>
      <p:sp>
        <p:nvSpPr>
          <p:cNvPr id="287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Purchase Request → Batch PO</a:t>
            </a:r>
          </a:p>
        </p:txBody>
      </p:sp>
      <p:sp>
        <p:nvSpPr>
          <p:cNvPr id="288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89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24</a:t>
            </a:r>
          </a:p>
        </p:txBody>
      </p:sp>
      <p:sp>
        <p:nvSpPr>
          <p:cNvPr id="290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1" name="panel"/>
          <p:cNvSpPr/>
          <p:nvPr/>
        </p:nvSpPr>
        <p:spPr>
          <a:xfrm>
            <a:off x="600000" y="1900000"/>
            <a:ext cx="5100000" cy="2000000"/>
          </a:xfrm>
          <a:prstGeom prst="roundRect">
            <a:avLst>
              <a:gd name="adj" fmla="val 3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92" name="l1"/>
          <p:cNvSpPr txBox="1"/>
          <p:nvPr/>
        </p:nvSpPr>
        <p:spPr>
          <a:xfrm>
            <a:off x="900000" y="2080000"/>
            <a:ext cx="4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전용 메뉴명</a:t>
            </a:r>
          </a:p>
        </p:txBody>
      </p:sp>
      <p:sp>
        <p:nvSpPr>
          <p:cNvPr id="293" name="v1"/>
          <p:cNvSpPr txBox="1"/>
          <p:nvPr/>
        </p:nvSpPr>
        <p:spPr>
          <a:xfrm>
            <a:off x="900000" y="2360000"/>
            <a:ext cx="4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구매요청 &amp; 일괄 발주 관리</a:t>
            </a:r>
          </a:p>
        </p:txBody>
      </p:sp>
      <p:sp>
        <p:nvSpPr>
          <p:cNvPr id="294" name="l2"/>
          <p:cNvSpPr txBox="1"/>
          <p:nvPr/>
        </p:nvSpPr>
        <p:spPr>
          <a:xfrm>
            <a:off x="900000" y="2990000"/>
            <a:ext cx="4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기능 개요</a:t>
            </a:r>
          </a:p>
        </p:txBody>
      </p:sp>
      <p:sp>
        <p:nvSpPr>
          <p:cNvPr id="295" name="v2"/>
          <p:cNvSpPr txBox="1"/>
          <p:nvPr/>
        </p:nvSpPr>
        <p:spPr>
          <a:xfrm>
            <a:off x="900000" y="3270000"/>
            <a:ext cx="4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dirty="0">
                <a:solidFill>
                  <a:srgbClr val="EAE3E2"/>
                </a:solidFill>
                <a:latin typeface="Calibri"/>
                <a:ea typeface="맑은 고딕"/>
                <a:cs typeface="맑은 고딕"/>
              </a:rPr>
              <a:t>실무자가 LLM으로 간편히 구매요청을 등록하면 요청 품목과 프로젝트별 소요 품목을 모아 구매팀이 일괄 발주·확정하는 요청–발주 분리 체계</a:t>
            </a:r>
          </a:p>
        </p:txBody>
      </p:sp>
      <p:sp>
        <p:nvSpPr>
          <p:cNvPr id="296" name="dot"/>
          <p:cNvSpPr/>
          <p:nvPr/>
        </p:nvSpPr>
        <p:spPr>
          <a:xfrm>
            <a:off x="620000" y="414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7" name="rh"/>
          <p:cNvSpPr txBox="1"/>
          <p:nvPr/>
        </p:nvSpPr>
        <p:spPr>
          <a:xfrm>
            <a:off x="840000" y="4070000"/>
            <a:ext cx="49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핵심 구축 및 개발 내용</a:t>
            </a:r>
          </a:p>
        </p:txBody>
      </p:sp>
      <p:sp>
        <p:nvSpPr>
          <p:cNvPr id="298" name="bm"/>
          <p:cNvSpPr/>
          <p:nvPr/>
        </p:nvSpPr>
        <p:spPr>
          <a:xfrm>
            <a:off x="620000" y="457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9" name="bt"/>
          <p:cNvSpPr txBox="1"/>
          <p:nvPr/>
        </p:nvSpPr>
        <p:spPr>
          <a:xfrm>
            <a:off x="840000" y="452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[LLM] </a:t>
            </a: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“스티로폼 5K 10개 구매요청” 자연어로 간편 요청(모바일·PC), 요청자·프로젝트 자동 정리</a:t>
            </a:r>
          </a:p>
        </p:txBody>
      </p:sp>
      <p:sp>
        <p:nvSpPr>
          <p:cNvPr id="300" name="bm"/>
          <p:cNvSpPr/>
          <p:nvPr/>
        </p:nvSpPr>
        <p:spPr>
          <a:xfrm>
            <a:off x="620000" y="509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t"/>
          <p:cNvSpPr txBox="1"/>
          <p:nvPr/>
        </p:nvSpPr>
        <p:spPr>
          <a:xfrm>
            <a:off x="840000" y="504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요청 품목 + 프로젝트별 소요(BOM) 품목 취합 → 일괄 발주 후보 자동 구성</a:t>
            </a:r>
          </a:p>
        </p:txBody>
      </p:sp>
      <p:sp>
        <p:nvSpPr>
          <p:cNvPr id="302" name="bm"/>
          <p:cNvSpPr/>
          <p:nvPr/>
        </p:nvSpPr>
        <p:spPr>
          <a:xfrm>
            <a:off x="620000" y="561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3" name="bt"/>
          <p:cNvSpPr txBox="1"/>
          <p:nvPr/>
        </p:nvSpPr>
        <p:spPr>
          <a:xfrm>
            <a:off x="840000" y="556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구매팀 검토 후 발주 확정(승인) → 발주 생성 및 입고·원가 연계</a:t>
            </a:r>
          </a:p>
        </p:txBody>
      </p:sp>
      <p:sp>
        <p:nvSpPr>
          <p:cNvPr id="304" name="bm"/>
          <p:cNvSpPr/>
          <p:nvPr/>
        </p:nvSpPr>
        <p:spPr>
          <a:xfrm>
            <a:off x="620000" y="6130000"/>
            <a:ext cx="130000" cy="13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5" name="bt"/>
          <p:cNvSpPr txBox="1"/>
          <p:nvPr/>
        </p:nvSpPr>
        <p:spPr>
          <a:xfrm>
            <a:off x="840000" y="6080000"/>
            <a:ext cx="48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요청/검토/확정 상태 추적 및 중복·과다 요청 자동 점검</a:t>
            </a:r>
          </a:p>
        </p:txBody>
      </p:sp>
      <p:sp>
        <p:nvSpPr>
          <p:cNvPr id="306" name="win"/>
          <p:cNvSpPr/>
          <p:nvPr/>
        </p:nvSpPr>
        <p:spPr>
          <a:xfrm>
            <a:off x="5900000" y="1900000"/>
            <a:ext cx="5650000" cy="3980000"/>
          </a:xfrm>
          <a:prstGeom prst="rect">
            <a:avLst/>
          </a:prstGeom>
          <a:solidFill>
            <a:srgbClr val="FFFFFF"/>
          </a:solidFill>
          <a:ln>
            <a:solidFill>
              <a:srgbClr val="DAD5D4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07" name="titlebar"/>
          <p:cNvSpPr/>
          <p:nvPr/>
        </p:nvSpPr>
        <p:spPr>
          <a:xfrm>
            <a:off x="5900000" y="1900000"/>
            <a:ext cx="5650000" cy="420000"/>
          </a:xfrm>
          <a:prstGeom prst="rect">
            <a:avLst/>
          </a:prstGeom>
          <a:solidFill>
            <a:srgbClr val="F2EEE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8" name="dot"/>
          <p:cNvSpPr/>
          <p:nvPr/>
        </p:nvSpPr>
        <p:spPr>
          <a:xfrm>
            <a:off x="6050000" y="2050000"/>
            <a:ext cx="130000" cy="13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9" name="dot"/>
          <p:cNvSpPr/>
          <p:nvPr/>
        </p:nvSpPr>
        <p:spPr>
          <a:xfrm>
            <a:off x="6240000" y="2050000"/>
            <a:ext cx="130000" cy="130000"/>
          </a:xfrm>
          <a:prstGeom prst="ellipse">
            <a:avLst/>
          </a:prstGeom>
          <a:solidFill>
            <a:srgbClr val="9B334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0" name="dot"/>
          <p:cNvSpPr/>
          <p:nvPr/>
        </p:nvSpPr>
        <p:spPr>
          <a:xfrm>
            <a:off x="6430000" y="2050000"/>
            <a:ext cx="130000" cy="130000"/>
          </a:xfrm>
          <a:prstGeom prst="ellipse">
            <a:avLst/>
          </a:prstGeom>
          <a:solidFill>
            <a:srgbClr val="A63A4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1" name="wtt"/>
          <p:cNvSpPr txBox="1"/>
          <p:nvPr/>
        </p:nvSpPr>
        <p:spPr>
          <a:xfrm>
            <a:off x="5900000" y="1900000"/>
            <a:ext cx="565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구매요청 · 일괄 발주</a:t>
            </a:r>
          </a:p>
        </p:txBody>
      </p:sp>
      <p:sp>
        <p:nvSpPr>
          <p:cNvPr id="312" name="hl"/>
          <p:cNvSpPr txBox="1"/>
          <p:nvPr/>
        </p:nvSpPr>
        <p:spPr>
          <a:xfrm>
            <a:off x="6180000" y="2460000"/>
            <a:ext cx="509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구매요청 목록 (요청 → 일괄 발주)</a:t>
            </a:r>
          </a:p>
        </p:txBody>
      </p:sp>
      <p:sp>
        <p:nvSpPr>
          <p:cNvPr id="313" name="tr"/>
          <p:cNvSpPr/>
          <p:nvPr/>
        </p:nvSpPr>
        <p:spPr>
          <a:xfrm>
            <a:off x="6180000" y="2760000"/>
            <a:ext cx="5090000" cy="330000"/>
          </a:xfrm>
          <a:prstGeom prst="rect">
            <a:avLst/>
          </a:prstGeom>
          <a:solidFill>
            <a:srgbClr val="202124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4" name="tc"/>
          <p:cNvSpPr txBox="1"/>
          <p:nvPr/>
        </p:nvSpPr>
        <p:spPr>
          <a:xfrm>
            <a:off x="6240000" y="2760000"/>
            <a:ext cx="1447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품목</a:t>
            </a:r>
          </a:p>
        </p:txBody>
      </p:sp>
      <p:sp>
        <p:nvSpPr>
          <p:cNvPr id="315" name="tc"/>
          <p:cNvSpPr txBox="1"/>
          <p:nvPr/>
        </p:nvSpPr>
        <p:spPr>
          <a:xfrm>
            <a:off x="7767000" y="2760000"/>
            <a:ext cx="7344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수량</a:t>
            </a:r>
          </a:p>
        </p:txBody>
      </p:sp>
      <p:sp>
        <p:nvSpPr>
          <p:cNvPr id="316" name="tc"/>
          <p:cNvSpPr txBox="1"/>
          <p:nvPr/>
        </p:nvSpPr>
        <p:spPr>
          <a:xfrm>
            <a:off x="8581400" y="2760000"/>
            <a:ext cx="13452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프로젝트</a:t>
            </a:r>
          </a:p>
        </p:txBody>
      </p:sp>
      <p:sp>
        <p:nvSpPr>
          <p:cNvPr id="317" name="tc"/>
          <p:cNvSpPr txBox="1"/>
          <p:nvPr/>
        </p:nvSpPr>
        <p:spPr>
          <a:xfrm>
            <a:off x="10006600" y="2760000"/>
            <a:ext cx="12434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318" name="tr"/>
          <p:cNvSpPr/>
          <p:nvPr/>
        </p:nvSpPr>
        <p:spPr>
          <a:xfrm>
            <a:off x="6180000" y="3090000"/>
            <a:ext cx="509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9" name="tc"/>
          <p:cNvSpPr txBox="1"/>
          <p:nvPr/>
        </p:nvSpPr>
        <p:spPr>
          <a:xfrm>
            <a:off x="6240000" y="3090000"/>
            <a:ext cx="1447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스티로폼 5K</a:t>
            </a:r>
          </a:p>
        </p:txBody>
      </p:sp>
      <p:sp>
        <p:nvSpPr>
          <p:cNvPr id="320" name="tc"/>
          <p:cNvSpPr txBox="1"/>
          <p:nvPr/>
        </p:nvSpPr>
        <p:spPr>
          <a:xfrm>
            <a:off x="7767000" y="3090000"/>
            <a:ext cx="734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10</a:t>
            </a:r>
          </a:p>
        </p:txBody>
      </p:sp>
      <p:sp>
        <p:nvSpPr>
          <p:cNvPr id="321" name="tc"/>
          <p:cNvSpPr txBox="1"/>
          <p:nvPr/>
        </p:nvSpPr>
        <p:spPr>
          <a:xfrm>
            <a:off x="8581400" y="3090000"/>
            <a:ext cx="1345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창원 압축기 PKG</a:t>
            </a:r>
          </a:p>
        </p:txBody>
      </p:sp>
      <p:sp>
        <p:nvSpPr>
          <p:cNvPr id="322" name="tc"/>
          <p:cNvSpPr txBox="1"/>
          <p:nvPr/>
        </p:nvSpPr>
        <p:spPr>
          <a:xfrm>
            <a:off x="10006600" y="3090000"/>
            <a:ext cx="1243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23" name="tr"/>
          <p:cNvSpPr/>
          <p:nvPr/>
        </p:nvSpPr>
        <p:spPr>
          <a:xfrm>
            <a:off x="6180000" y="3390000"/>
            <a:ext cx="5090000" cy="300000"/>
          </a:xfrm>
          <a:prstGeom prst="rect">
            <a:avLst/>
          </a:prstGeom>
          <a:solidFill>
            <a:srgbClr val="F6F2F1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4" name="tc"/>
          <p:cNvSpPr txBox="1"/>
          <p:nvPr/>
        </p:nvSpPr>
        <p:spPr>
          <a:xfrm>
            <a:off x="6240000" y="3390000"/>
            <a:ext cx="1447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NEA 압축기 본체</a:t>
            </a:r>
          </a:p>
        </p:txBody>
      </p:sp>
      <p:sp>
        <p:nvSpPr>
          <p:cNvPr id="325" name="tc"/>
          <p:cNvSpPr txBox="1"/>
          <p:nvPr/>
        </p:nvSpPr>
        <p:spPr>
          <a:xfrm>
            <a:off x="7767000" y="3390000"/>
            <a:ext cx="734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1</a:t>
            </a:r>
          </a:p>
        </p:txBody>
      </p:sp>
      <p:sp>
        <p:nvSpPr>
          <p:cNvPr id="326" name="tc"/>
          <p:cNvSpPr txBox="1"/>
          <p:nvPr/>
        </p:nvSpPr>
        <p:spPr>
          <a:xfrm>
            <a:off x="8581400" y="3390000"/>
            <a:ext cx="1345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창원 압축기 PKG</a:t>
            </a:r>
          </a:p>
        </p:txBody>
      </p:sp>
      <p:sp>
        <p:nvSpPr>
          <p:cNvPr id="327" name="tc"/>
          <p:cNvSpPr txBox="1"/>
          <p:nvPr/>
        </p:nvSpPr>
        <p:spPr>
          <a:xfrm>
            <a:off x="10006600" y="3390000"/>
            <a:ext cx="1243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28" name="tr"/>
          <p:cNvSpPr/>
          <p:nvPr/>
        </p:nvSpPr>
        <p:spPr>
          <a:xfrm>
            <a:off x="6180000" y="3690000"/>
            <a:ext cx="509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0EC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9" name="tc"/>
          <p:cNvSpPr txBox="1"/>
          <p:nvPr/>
        </p:nvSpPr>
        <p:spPr>
          <a:xfrm>
            <a:off x="6240000" y="3690000"/>
            <a:ext cx="1447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체결 볼트 M20</a:t>
            </a:r>
          </a:p>
        </p:txBody>
      </p:sp>
      <p:sp>
        <p:nvSpPr>
          <p:cNvPr id="330" name="tc"/>
          <p:cNvSpPr txBox="1"/>
          <p:nvPr/>
        </p:nvSpPr>
        <p:spPr>
          <a:xfrm>
            <a:off x="7767000" y="3690000"/>
            <a:ext cx="734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200</a:t>
            </a:r>
          </a:p>
        </p:txBody>
      </p:sp>
      <p:sp>
        <p:nvSpPr>
          <p:cNvPr id="331" name="tc"/>
          <p:cNvSpPr txBox="1"/>
          <p:nvPr/>
        </p:nvSpPr>
        <p:spPr>
          <a:xfrm>
            <a:off x="8581400" y="3690000"/>
            <a:ext cx="1345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공통 자재</a:t>
            </a:r>
          </a:p>
        </p:txBody>
      </p:sp>
      <p:sp>
        <p:nvSpPr>
          <p:cNvPr id="332" name="tc"/>
          <p:cNvSpPr txBox="1"/>
          <p:nvPr/>
        </p:nvSpPr>
        <p:spPr>
          <a:xfrm>
            <a:off x="10006600" y="3690000"/>
            <a:ext cx="12434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333" name="conf"/>
          <p:cNvSpPr/>
          <p:nvPr/>
        </p:nvSpPr>
        <p:spPr>
          <a:xfrm>
            <a:off x="6180000" y="4140000"/>
            <a:ext cx="5090000" cy="520000"/>
          </a:xfrm>
          <a:prstGeom prst="roundRect">
            <a:avLst>
              <a:gd name="adj" fmla="val 8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34" name="ct"/>
          <p:cNvSpPr txBox="1"/>
          <p:nvPr/>
        </p:nvSpPr>
        <p:spPr>
          <a:xfrm>
            <a:off x="6380000" y="4140000"/>
            <a:ext cx="294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선택 3건 · 프로젝트별 품목 일괄 발주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구매팀 검토 후 발주 확정 → 발주·입고 연계</a:t>
            </a:r>
          </a:p>
        </p:txBody>
      </p:sp>
      <p:sp>
        <p:nvSpPr>
          <p:cNvPr id="335" name="cbtn"/>
          <p:cNvSpPr/>
          <p:nvPr/>
        </p:nvSpPr>
        <p:spPr>
          <a:xfrm>
            <a:off x="9520000" y="4240000"/>
            <a:ext cx="1600000" cy="320000"/>
          </a:xfrm>
          <a:prstGeom prst="roundRect">
            <a:avLst>
              <a:gd name="adj" fmla="val 22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일괄 발주 확정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메뉴얼 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 사용자 메뉴얼 제공 구성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SYU PMS User Manual (Rev. 2.0) — Structure &amp; Deliverables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072588"/>
            <a:ext cx="5242429" cy="4084218"/>
          </a:xfrm>
          <a:prstGeom prst="roundRect">
            <a:avLst>
              <a:gd name="adj" fmla="val 2090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377" y="229203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90" y="2437851"/>
            <a:ext cx="269193" cy="2691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9304" y="2292039"/>
            <a:ext cx="4145176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SYU PMS 사용자 메뉴얼 (Rev. 2.0) 구성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5336" y="2974774"/>
            <a:ext cx="4754761" cy="3047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전체 업무 흐름 · 프로세스 맵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수주 목록 / 신규 수주 등록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도면 기반 수주 생성 (AI·BOM 자동 인식)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프로젝트 대시보드 (KPI·AI 어시스턴트)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BOM 관리 · 발주(PO) 자동생성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간트·단계 계획 (일정 자동배분)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EVM · 리스크 · 구매 · 대금 · 회계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인력 등록(엑셀) · 프로젝트 배정</a:t>
            </a:r>
            <a:endParaRPr lang="en-US" sz="1307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설정·수주 삭제(관리자) · 업무 순서</a:t>
            </a:r>
            <a:endParaRPr lang="en-US" sz="1307" dirty="0"/>
          </a:p>
        </p:txBody>
      </p:sp>
      <p:sp>
        <p:nvSpPr>
          <p:cNvPr id="12" name="Shape 9"/>
          <p:cNvSpPr/>
          <p:nvPr/>
        </p:nvSpPr>
        <p:spPr>
          <a:xfrm>
            <a:off x="6156806" y="2072588"/>
            <a:ext cx="5364346" cy="1243553"/>
          </a:xfrm>
          <a:prstGeom prst="roundRect">
            <a:avLst>
              <a:gd name="adj" fmla="val 6863"/>
            </a:avLst>
          </a:prstGeom>
          <a:solidFill>
            <a:srgbClr val="F3EC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376257" y="2389572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49" y="2548064"/>
            <a:ext cx="292601" cy="2926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68717" y="2218889"/>
            <a:ext cx="4206135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산출물로 공식 편입</a:t>
            </a:r>
            <a:endParaRPr lang="en-US" sz="1533" dirty="0"/>
          </a:p>
        </p:txBody>
      </p:sp>
      <p:sp>
        <p:nvSpPr>
          <p:cNvPr id="16" name="Text 12"/>
          <p:cNvSpPr/>
          <p:nvPr/>
        </p:nvSpPr>
        <p:spPr>
          <a:xfrm>
            <a:off x="7168717" y="2584639"/>
            <a:ext cx="4206135" cy="6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W18~20 ‘현업 가동 교육·사용자 매뉴얼’ 산출물에 본 메뉴얼(화면 캡처 포함)을 기본 제공</a:t>
            </a:r>
            <a:endParaRPr lang="en-US" sz="1240" dirty="0"/>
          </a:p>
        </p:txBody>
      </p:sp>
      <p:sp>
        <p:nvSpPr>
          <p:cNvPr id="17" name="Shape 13"/>
          <p:cNvSpPr/>
          <p:nvPr/>
        </p:nvSpPr>
        <p:spPr>
          <a:xfrm>
            <a:off x="6156806" y="3499017"/>
            <a:ext cx="5364346" cy="1243553"/>
          </a:xfrm>
          <a:prstGeom prst="roundRect">
            <a:avLst>
              <a:gd name="adj" fmla="val 686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76257" y="3816001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749" y="3974493"/>
            <a:ext cx="292601" cy="2926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68717" y="3645317"/>
            <a:ext cx="4206135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확장 기능 문서화</a:t>
            </a:r>
            <a:endParaRPr lang="en-US" sz="1533" dirty="0"/>
          </a:p>
        </p:txBody>
      </p:sp>
      <p:sp>
        <p:nvSpPr>
          <p:cNvPr id="21" name="Text 16"/>
          <p:cNvSpPr/>
          <p:nvPr/>
        </p:nvSpPr>
        <p:spPr>
          <a:xfrm>
            <a:off x="7168717" y="4011068"/>
            <a:ext cx="4206135" cy="6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수주·발주 생성, 일괄변경, 5개 확정함 사용법 챕터를 메뉴얼에 포함 제공</a:t>
            </a:r>
            <a:endParaRPr lang="en-US" sz="1240" dirty="0"/>
          </a:p>
        </p:txBody>
      </p:sp>
      <p:sp>
        <p:nvSpPr>
          <p:cNvPr id="22" name="Shape 17"/>
          <p:cNvSpPr/>
          <p:nvPr/>
        </p:nvSpPr>
        <p:spPr>
          <a:xfrm>
            <a:off x="6156806" y="4925445"/>
            <a:ext cx="5364346" cy="1243553"/>
          </a:xfrm>
          <a:prstGeom prst="roundRect">
            <a:avLst>
              <a:gd name="adj" fmla="val 686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376257" y="5242429"/>
            <a:ext cx="609585" cy="609585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49" y="5400921"/>
            <a:ext cx="292601" cy="29260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68717" y="5071745"/>
            <a:ext cx="4206135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신입·현업 온보딩 기준서</a:t>
            </a:r>
            <a:endParaRPr lang="en-US" sz="1533" dirty="0"/>
          </a:p>
        </p:txBody>
      </p:sp>
      <p:sp>
        <p:nvSpPr>
          <p:cNvPr id="26" name="Text 20"/>
          <p:cNvSpPr/>
          <p:nvPr/>
        </p:nvSpPr>
        <p:spPr>
          <a:xfrm>
            <a:off x="7168717" y="5437496"/>
            <a:ext cx="4206135" cy="6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4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 따라하기 구성으로 담당자 자가 학습 지원, 문의·교육 공수 절감</a:t>
            </a:r>
            <a:endParaRPr lang="en-US" sz="12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메뉴얼 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메뉴얼 핵심 — 업무 흐름과 화면 사용 순서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Highlights — End-to-End Flow &amp; Daily Routine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096972"/>
            <a:ext cx="2499298" cy="1609304"/>
          </a:xfrm>
          <a:prstGeom prst="roundRect">
            <a:avLst>
              <a:gd name="adj" fmla="val 5303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27" y="2218889"/>
            <a:ext cx="2157930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수주 등록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27" y="2633406"/>
            <a:ext cx="2157930" cy="999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업로드 → AI가 BOM 인식,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프로젝트·표준 단계 자동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457" y="2633406"/>
            <a:ext cx="341367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62441" y="2096972"/>
            <a:ext cx="2499298" cy="1609304"/>
          </a:xfrm>
          <a:prstGeom prst="roundRect">
            <a:avLst>
              <a:gd name="adj" fmla="val 5303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33125" y="2218889"/>
            <a:ext cx="2157930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실행 단계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3125" y="2633406"/>
            <a:ext cx="2157930" cy="999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설계→조달→제작→조립→FAT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→납품→정산 진척 관리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7356" y="2633406"/>
            <a:ext cx="341367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54340" y="2096972"/>
            <a:ext cx="2499298" cy="1609304"/>
          </a:xfrm>
          <a:prstGeom prst="roundRect">
            <a:avLst>
              <a:gd name="adj" fmla="val 5303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25023" y="2218889"/>
            <a:ext cx="2157930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조달·발주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5023" y="2633406"/>
            <a:ext cx="2157930" cy="999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리드타임(L/T) 역산으로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시점 자동 산정·롱리드 관리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29254" y="2633406"/>
            <a:ext cx="341367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46238" y="2096972"/>
            <a:ext cx="2499298" cy="1609304"/>
          </a:xfrm>
          <a:prstGeom prst="roundRect">
            <a:avLst>
              <a:gd name="adj" fmla="val 5303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16922" y="2218889"/>
            <a:ext cx="2157930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상시 관리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16922" y="2633406"/>
            <a:ext cx="2157930" cy="999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일정·EVM·리스크·인력·대금·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회계를 전 과정 모니터링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0543" y="3974493"/>
            <a:ext cx="6827349" cy="2218889"/>
          </a:xfrm>
          <a:prstGeom prst="roundRect">
            <a:avLst>
              <a:gd name="adj" fmla="val 3846"/>
            </a:avLst>
          </a:prstGeom>
          <a:solidFill>
            <a:srgbClr val="1A1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50952" y="4169560"/>
            <a:ext cx="6339682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업무 순서 (메뉴얼 기준)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1158211" y="4559694"/>
            <a:ext cx="6156806" cy="152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67"/>
              </a:lnSpc>
              <a:buSzPct val="100000"/>
              <a:buFont typeface="+mj-lt"/>
              <a:buAutoNum type="arabicPeriod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담당 수주 열기 → 대시보드 현황 파악</a:t>
            </a:r>
            <a:endParaRPr lang="en-US" sz="1307" dirty="0"/>
          </a:p>
          <a:p>
            <a:pPr marL="342900" indent="-342900">
              <a:lnSpc>
                <a:spcPts val="2067"/>
              </a:lnSpc>
              <a:buSzPct val="100000"/>
              <a:buFont typeface="+mj-lt"/>
              <a:buAutoNum type="arabicPeriod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탭 입력·저장 (진척·입고·대금 등)</a:t>
            </a:r>
            <a:endParaRPr lang="en-US" sz="1307" dirty="0"/>
          </a:p>
          <a:p>
            <a:pPr marL="342900" indent="-342900">
              <a:lnSpc>
                <a:spcPts val="2067"/>
              </a:lnSpc>
              <a:buSzPct val="100000"/>
              <a:buFont typeface="+mj-lt"/>
              <a:buAutoNum type="arabicPeriod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지연·롱리드·과배정 알림 확인 및 팀 공유</a:t>
            </a:r>
            <a:endParaRPr lang="en-US" sz="1307" dirty="0"/>
          </a:p>
          <a:p>
            <a:pPr marL="342900" indent="-342900">
              <a:lnSpc>
                <a:spcPts val="2067"/>
              </a:lnSpc>
              <a:buSzPct val="100000"/>
              <a:buFont typeface="+mj-lt"/>
              <a:buAutoNum type="arabicPeriod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어시스턴트에 자연어 질의·명령 (확정함 승인 포함)</a:t>
            </a:r>
            <a:endParaRPr lang="en-US" sz="1307" dirty="0"/>
          </a:p>
        </p:txBody>
      </p:sp>
      <p:sp>
        <p:nvSpPr>
          <p:cNvPr id="25" name="Shape 23"/>
          <p:cNvSpPr/>
          <p:nvPr/>
        </p:nvSpPr>
        <p:spPr>
          <a:xfrm>
            <a:off x="7741726" y="3974493"/>
            <a:ext cx="3779426" cy="2218889"/>
          </a:xfrm>
          <a:prstGeom prst="roundRect">
            <a:avLst>
              <a:gd name="adj" fmla="val 3846"/>
            </a:avLst>
          </a:prstGeom>
          <a:solidFill>
            <a:srgbClr val="F3EC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985560" y="4193943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373" y="4339756"/>
            <a:ext cx="269193" cy="26919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680487" y="4193943"/>
            <a:ext cx="2682173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어시스턴트 확장</a:t>
            </a:r>
            <a:endParaRPr lang="en-US" sz="1467" dirty="0"/>
          </a:p>
        </p:txBody>
      </p:sp>
      <p:sp>
        <p:nvSpPr>
          <p:cNvPr id="29" name="Text 26"/>
          <p:cNvSpPr/>
          <p:nvPr/>
        </p:nvSpPr>
        <p:spPr>
          <a:xfrm>
            <a:off x="7985560" y="4827911"/>
            <a:ext cx="3316141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22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메뉴얼의 AI 어시스턴트가 수주·발주 생성, 수량·납기 일괄변경까지 처리하도록 확장되며, 반영은 항상 확정함 승인 후 진행됩니다.</a:t>
            </a:r>
            <a:endParaRPr lang="en-US" sz="122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9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개발 일정</a:t>
            </a:r>
          </a:p>
        </p:txBody>
      </p:sp>
      <p:sp>
        <p:nvSpPr>
          <p:cNvPr id="410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5개월 (20주) 단계별 구축 로드맵</a:t>
            </a:r>
          </a:p>
        </p:txBody>
      </p:sp>
      <p:sp>
        <p:nvSpPr>
          <p:cNvPr id="411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Project Implementation Timeline &amp; Milestones</a:t>
            </a:r>
          </a:p>
        </p:txBody>
      </p:sp>
      <p:sp>
        <p:nvSpPr>
          <p:cNvPr id="412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413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28</a:t>
            </a:r>
          </a:p>
        </p:txBody>
      </p:sp>
      <p:sp>
        <p:nvSpPr>
          <p:cNvPr id="414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1" name="outer"/>
          <p:cNvSpPr/>
          <p:nvPr/>
        </p:nvSpPr>
        <p:spPr>
          <a:xfrm>
            <a:off x="600000" y="1900000"/>
            <a:ext cx="10992000" cy="396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2" name="th"/>
          <p:cNvSpPr/>
          <p:nvPr/>
        </p:nvSpPr>
        <p:spPr>
          <a:xfrm>
            <a:off x="600000" y="1900000"/>
            <a:ext cx="2050000" cy="42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단계 (Phase)</a:t>
            </a:r>
          </a:p>
        </p:txBody>
      </p:sp>
      <p:sp>
        <p:nvSpPr>
          <p:cNvPr id="383" name="th"/>
          <p:cNvSpPr/>
          <p:nvPr/>
        </p:nvSpPr>
        <p:spPr>
          <a:xfrm>
            <a:off x="2650000" y="1900000"/>
            <a:ext cx="1150000" cy="42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주차 (Week)</a:t>
            </a:r>
          </a:p>
        </p:txBody>
      </p:sp>
      <p:sp>
        <p:nvSpPr>
          <p:cNvPr id="384" name="th"/>
          <p:cNvSpPr/>
          <p:nvPr/>
        </p:nvSpPr>
        <p:spPr>
          <a:xfrm>
            <a:off x="3800000" y="1900000"/>
            <a:ext cx="4242000" cy="42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핵심 개발 태스크 (Tasks)</a:t>
            </a:r>
          </a:p>
        </p:txBody>
      </p:sp>
      <p:sp>
        <p:nvSpPr>
          <p:cNvPr id="385" name="th"/>
          <p:cNvSpPr/>
          <p:nvPr/>
        </p:nvSpPr>
        <p:spPr>
          <a:xfrm>
            <a:off x="8042000" y="1900000"/>
            <a:ext cx="3550000" cy="42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최종 산출물 및 마일스톤</a:t>
            </a:r>
          </a:p>
        </p:txBody>
      </p:sp>
      <p:sp>
        <p:nvSpPr>
          <p:cNvPr id="386" name="phase"/>
          <p:cNvSpPr/>
          <p:nvPr/>
        </p:nvSpPr>
        <p:spPr>
          <a:xfrm>
            <a:off x="600000" y="2320000"/>
            <a:ext cx="2050000" cy="590000"/>
          </a:xfrm>
          <a:prstGeom prst="rect">
            <a:avLst/>
          </a:prstGeom>
          <a:solidFill>
            <a:srgbClr val="5E1926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Phase 1. 분석/설계</a:t>
            </a:r>
          </a:p>
        </p:txBody>
      </p:sp>
      <p:sp>
        <p:nvSpPr>
          <p:cNvPr id="387" name="phase"/>
          <p:cNvSpPr/>
          <p:nvPr/>
        </p:nvSpPr>
        <p:spPr>
          <a:xfrm>
            <a:off x="600000" y="2910000"/>
            <a:ext cx="2050000" cy="118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Phase 2. 핵심 메뉴 개발</a:t>
            </a:r>
          </a:p>
        </p:txBody>
      </p:sp>
      <p:sp>
        <p:nvSpPr>
          <p:cNvPr id="388" name="phase"/>
          <p:cNvSpPr/>
          <p:nvPr/>
        </p:nvSpPr>
        <p:spPr>
          <a:xfrm>
            <a:off x="600000" y="4090000"/>
            <a:ext cx="2050000" cy="1180000"/>
          </a:xfrm>
          <a:prstGeom prst="rect">
            <a:avLst/>
          </a:prstGeom>
          <a:solidFill>
            <a:srgbClr val="5E1926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Phase 3. LLM·더존 연동</a:t>
            </a:r>
          </a:p>
        </p:txBody>
      </p:sp>
      <p:sp>
        <p:nvSpPr>
          <p:cNvPr id="389" name="phase"/>
          <p:cNvSpPr/>
          <p:nvPr/>
        </p:nvSpPr>
        <p:spPr>
          <a:xfrm>
            <a:off x="600000" y="5270000"/>
            <a:ext cx="2050000" cy="590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Phase 4. 통합/안정화</a:t>
            </a:r>
          </a:p>
        </p:txBody>
      </p:sp>
      <p:sp>
        <p:nvSpPr>
          <p:cNvPr id="390" name="wk"/>
          <p:cNvSpPr/>
          <p:nvPr/>
        </p:nvSpPr>
        <p:spPr>
          <a:xfrm>
            <a:off x="2650000" y="2320000"/>
            <a:ext cx="11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W1 ~ W4</a:t>
            </a:r>
          </a:p>
        </p:txBody>
      </p:sp>
      <p:sp>
        <p:nvSpPr>
          <p:cNvPr id="391" name="tk"/>
          <p:cNvSpPr/>
          <p:nvPr/>
        </p:nvSpPr>
        <p:spPr>
          <a:xfrm>
            <a:off x="3800000" y="2320000"/>
            <a:ext cx="4242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업무 분석 및 표준 PMS·더존 연동(회계/HR/전자결재) 요건 정의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SYU LLM·OCR 연동 설계 및 데이터 모델링</a:t>
            </a:r>
          </a:p>
        </p:txBody>
      </p:sp>
      <p:sp>
        <p:nvSpPr>
          <p:cNvPr id="392" name="dl"/>
          <p:cNvSpPr/>
          <p:nvPr/>
        </p:nvSpPr>
        <p:spPr>
          <a:xfrm>
            <a:off x="8042000" y="2320000"/>
            <a:ext cx="35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요구사항 정의서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연동·데이터 설계서 (ERD)</a:t>
            </a:r>
          </a:p>
        </p:txBody>
      </p:sp>
      <p:sp>
        <p:nvSpPr>
          <p:cNvPr id="393" name="wk"/>
          <p:cNvSpPr/>
          <p:nvPr/>
        </p:nvSpPr>
        <p:spPr>
          <a:xfrm>
            <a:off x="2650000" y="2910000"/>
            <a:ext cx="11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W5 ~ W8</a:t>
            </a:r>
          </a:p>
        </p:txBody>
      </p:sp>
      <p:sp>
        <p:nvSpPr>
          <p:cNvPr id="394" name="tk"/>
          <p:cNvSpPr/>
          <p:nvPr/>
        </p:nvSpPr>
        <p:spPr>
          <a:xfrm>
            <a:off x="3800000" y="2910000"/>
            <a:ext cx="4242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수주·진척·대금 관리 메뉴 및 구매요청/일괄발주 개발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정산 로직 및 결산(매출/매입) 기초 구현</a:t>
            </a:r>
          </a:p>
        </p:txBody>
      </p:sp>
      <p:sp>
        <p:nvSpPr>
          <p:cNvPr id="395" name="dl"/>
          <p:cNvSpPr/>
          <p:nvPr/>
        </p:nvSpPr>
        <p:spPr>
          <a:xfrm>
            <a:off x="8042000" y="2910000"/>
            <a:ext cx="35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수주/진척/대금/요청 모듈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결산 로직</a:t>
            </a:r>
          </a:p>
        </p:txBody>
      </p:sp>
      <p:sp>
        <p:nvSpPr>
          <p:cNvPr id="396" name="wk"/>
          <p:cNvSpPr/>
          <p:nvPr/>
        </p:nvSpPr>
        <p:spPr>
          <a:xfrm>
            <a:off x="2650000" y="3500000"/>
            <a:ext cx="11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W9 ~ W12</a:t>
            </a:r>
          </a:p>
        </p:txBody>
      </p:sp>
      <p:sp>
        <p:nvSpPr>
          <p:cNvPr id="397" name="tk"/>
          <p:cNvSpPr/>
          <p:nvPr/>
        </p:nvSpPr>
        <p:spPr>
          <a:xfrm>
            <a:off x="3800000" y="3500000"/>
            <a:ext cx="4242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구매·원가·전사 대시보드 메뉴 개발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매출/매입 결산 및 회계전표 매핑 모듈 구현</a:t>
            </a:r>
          </a:p>
        </p:txBody>
      </p:sp>
      <p:sp>
        <p:nvSpPr>
          <p:cNvPr id="398" name="dl"/>
          <p:cNvSpPr/>
          <p:nvPr/>
        </p:nvSpPr>
        <p:spPr>
          <a:xfrm>
            <a:off x="8042000" y="3500000"/>
            <a:ext cx="35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구매/원가/대시보드 모듈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결산·전표 매핑</a:t>
            </a:r>
          </a:p>
        </p:txBody>
      </p:sp>
      <p:sp>
        <p:nvSpPr>
          <p:cNvPr id="399" name="wk"/>
          <p:cNvSpPr/>
          <p:nvPr/>
        </p:nvSpPr>
        <p:spPr>
          <a:xfrm>
            <a:off x="2650000" y="4090000"/>
            <a:ext cx="11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W13 ~ W15</a:t>
            </a:r>
          </a:p>
        </p:txBody>
      </p:sp>
      <p:sp>
        <p:nvSpPr>
          <p:cNvPr id="400" name="tk"/>
          <p:cNvSpPr/>
          <p:nvPr/>
        </p:nvSpPr>
        <p:spPr>
          <a:xfrm>
            <a:off x="3800000" y="4090000"/>
            <a:ext cx="4242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SYU LLM 자연어 처리·OCR 및 대상 메뉴·필드 매핑 엔진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명령 미리보기·검증(모바일·PC) 로직</a:t>
            </a:r>
          </a:p>
        </p:txBody>
      </p:sp>
      <p:sp>
        <p:nvSpPr>
          <p:cNvPr id="401" name="dl"/>
          <p:cNvSpPr/>
          <p:nvPr/>
        </p:nvSpPr>
        <p:spPr>
          <a:xfrm>
            <a:off x="8042000" y="4090000"/>
            <a:ext cx="35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자연어·OCR 처리 엔진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미리보기/검증 모듈</a:t>
            </a:r>
          </a:p>
        </p:txBody>
      </p:sp>
      <p:sp>
        <p:nvSpPr>
          <p:cNvPr id="402" name="wk"/>
          <p:cNvSpPr/>
          <p:nvPr/>
        </p:nvSpPr>
        <p:spPr>
          <a:xfrm>
            <a:off x="2650000" y="4680000"/>
            <a:ext cx="11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W16 ~ W17</a:t>
            </a:r>
          </a:p>
        </p:txBody>
      </p:sp>
      <p:sp>
        <p:nvSpPr>
          <p:cNvPr id="403" name="tk"/>
          <p:cNvSpPr/>
          <p:nvPr/>
        </p:nvSpPr>
        <p:spPr>
          <a:xfrm>
            <a:off x="3800000" y="4680000"/>
            <a:ext cx="4242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더존 아마란스 연동: 회계전표 API·HR 연차·전자결재 자동상신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PC 반영 확인 게이트 및 권한 가드</a:t>
            </a:r>
          </a:p>
        </p:txBody>
      </p:sp>
      <p:sp>
        <p:nvSpPr>
          <p:cNvPr id="404" name="dl"/>
          <p:cNvSpPr/>
          <p:nvPr/>
        </p:nvSpPr>
        <p:spPr>
          <a:xfrm>
            <a:off x="8042000" y="4680000"/>
            <a:ext cx="3550000" cy="5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더존 연동 모듈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PC 확인·전자결재 연계</a:t>
            </a:r>
          </a:p>
        </p:txBody>
      </p:sp>
      <p:sp>
        <p:nvSpPr>
          <p:cNvPr id="405" name="wk"/>
          <p:cNvSpPr/>
          <p:nvPr/>
        </p:nvSpPr>
        <p:spPr>
          <a:xfrm>
            <a:off x="2650000" y="5270000"/>
            <a:ext cx="11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W18 ~ W20</a:t>
            </a:r>
          </a:p>
        </p:txBody>
      </p:sp>
      <p:sp>
        <p:nvSpPr>
          <p:cNvPr id="406" name="tk"/>
          <p:cNvSpPr/>
          <p:nvPr/>
        </p:nvSpPr>
        <p:spPr>
          <a:xfrm>
            <a:off x="3800000" y="5270000"/>
            <a:ext cx="4242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통합 테스트(더존 연동 포함) 및 데이터 정합성 검증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 현업 가동 교육 및 시스템 정식 오픈</a:t>
            </a:r>
          </a:p>
        </p:txBody>
      </p:sp>
      <p:sp>
        <p:nvSpPr>
          <p:cNvPr id="407" name="dl"/>
          <p:cNvSpPr/>
          <p:nvPr/>
        </p:nvSpPr>
        <p:spPr>
          <a:xfrm>
            <a:off x="8042000" y="5270000"/>
            <a:ext cx="3550000" cy="590000"/>
          </a:xfrm>
          <a:prstGeom prst="rect">
            <a:avLst/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통합 테스트 결과서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▸ 사용자 매뉴얼 / 가동 승인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추진 — 1차 5개월 · 2차 2개월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Phased Rollout — Phase 1: 5-Month PMS Build · Phase 2: 2-Month ERIGO Adoption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072588"/>
            <a:ext cx="5266812" cy="4084218"/>
          </a:xfrm>
          <a:prstGeom prst="roundRect">
            <a:avLst>
              <a:gd name="adj" fmla="val 2388"/>
            </a:avLst>
          </a:prstGeom>
          <a:solidFill>
            <a:srgbClr val="F7F3F2"/>
          </a:solidFill>
          <a:ln/>
          <a:effectLst>
            <a:outerShdw blurRad="76200" dist="25400" dir="5400000" algn="bl" rotWithShape="0">
              <a:srgbClr val="8C807E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377" y="2316422"/>
            <a:ext cx="1219170" cy="438901"/>
          </a:xfrm>
          <a:prstGeom prst="roundRect">
            <a:avLst>
              <a:gd name="adj" fmla="val 16667"/>
            </a:avLst>
          </a:prstGeom>
          <a:solidFill>
            <a:srgbClr val="2622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377" y="2316422"/>
            <a:ext cx="1219170" cy="4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92039" y="2231080"/>
            <a:ext cx="347463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4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 구축 + UI 추가개발 (사용자 편의성 위주)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377" y="5486263"/>
            <a:ext cx="4754761" cy="438901"/>
          </a:xfrm>
          <a:prstGeom prst="roundRect">
            <a:avLst>
              <a:gd name="adj" fmla="val 16667"/>
            </a:avLst>
          </a:prstGeom>
          <a:solidFill>
            <a:srgbClr val="F0E9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53" y="5486263"/>
            <a:ext cx="4510927" cy="4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7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 </a:t>
            </a:r>
            <a:r>
              <a:rPr lang="en-US" sz="126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5개월 (20주) — 신규 구축·개발</a:t>
            </a:r>
            <a:endParaRPr lang="en-US" sz="1267" dirty="0"/>
          </a:p>
        </p:txBody>
      </p:sp>
      <p:sp>
        <p:nvSpPr>
          <p:cNvPr id="13" name="Text 11"/>
          <p:cNvSpPr/>
          <p:nvPr/>
        </p:nvSpPr>
        <p:spPr>
          <a:xfrm>
            <a:off x="950952" y="2974774"/>
            <a:ext cx="4754761" cy="304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PMS 구축 — 수주·진척·대금·구매·원가·대시보드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[LLM] 수주·발주 생성, 수량·납기 일괄변경 + 5개 확정함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편의 UI 추가개발 — 화면 단순화·모바일 간편 입력·일괄처리 UI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변경 → PMS 일정 자동 반영 연계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더존 아마란스 회계·HR·전자결재 연동</a:t>
            </a:r>
            <a:endParaRPr lang="en-US" sz="1307" dirty="0"/>
          </a:p>
        </p:txBody>
      </p:sp>
      <p:sp>
        <p:nvSpPr>
          <p:cNvPr id="14" name="Text 12"/>
          <p:cNvSpPr/>
          <p:nvPr/>
        </p:nvSpPr>
        <p:spPr>
          <a:xfrm>
            <a:off x="5973931" y="3840384"/>
            <a:ext cx="426709" cy="5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2667" dirty="0"/>
          </a:p>
        </p:txBody>
      </p:sp>
      <p:sp>
        <p:nvSpPr>
          <p:cNvPr id="15" name="Shape 13"/>
          <p:cNvSpPr/>
          <p:nvPr/>
        </p:nvSpPr>
        <p:spPr>
          <a:xfrm>
            <a:off x="6437215" y="2072588"/>
            <a:ext cx="5083937" cy="4084218"/>
          </a:xfrm>
          <a:prstGeom prst="roundRect">
            <a:avLst>
              <a:gd name="adj" fmla="val 2388"/>
            </a:avLst>
          </a:prstGeom>
          <a:solidFill>
            <a:srgbClr val="1A1718"/>
          </a:solidFill>
          <a:ln/>
          <a:effectLst>
            <a:outerShdw blurRad="762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81049" y="2316422"/>
            <a:ext cx="1219170" cy="438901"/>
          </a:xfrm>
          <a:prstGeom prst="roundRect">
            <a:avLst>
              <a:gd name="adj" fmla="val 16667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81049" y="2316422"/>
            <a:ext cx="1219170" cy="4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58711" y="2231080"/>
            <a:ext cx="3316141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67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ERIGO 도입 — 구매·입고 운영 자동화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81049" y="5486263"/>
            <a:ext cx="4596269" cy="438901"/>
          </a:xfrm>
          <a:prstGeom prst="roundRect">
            <a:avLst>
              <a:gd name="adj" fmla="val 16667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63924" y="5486263"/>
            <a:ext cx="4389010" cy="4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 </a:t>
            </a:r>
            <a:r>
              <a:rPr lang="en-US" sz="126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도입·안정화 2개월 — 완성 솔루션, 신규 개발 없음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6705432" y="2974774"/>
            <a:ext cx="4608461" cy="304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구매발주 일원화 — 구매요청→발주→입고→마감을 ERIGO로 통합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공급사 사전 입력 — 납품예정수량·단가 확정 금액 등록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거래명세서 사진 촬영 → OCR 분석으로 입고대상 자동 매칭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LLM 확인·확정만으로 ERP 입고 반영</a:t>
            </a:r>
            <a:endParaRPr lang="en-US" sz="1307" dirty="0"/>
          </a:p>
          <a:p>
            <a:pPr marL="127000" indent="-127000">
              <a:lnSpc>
                <a:spcPts val="1933"/>
              </a:lnSpc>
              <a:buSzPct val="100000"/>
              <a:buChar char="•"/>
            </a:pPr>
            <a:r>
              <a:rPr lang="en-US" sz="1307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재고·거래처 정산·월마감 자동화 (ERIGO 검증 기능 활용)</a:t>
            </a:r>
            <a:endParaRPr lang="en-US" sz="1307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16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417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도입 기대 효과</a:t>
            </a:r>
          </a:p>
        </p:txBody>
      </p:sp>
      <p:sp>
        <p:nvSpPr>
          <p:cNvPr id="418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Expected Outcomes</a:t>
            </a:r>
          </a:p>
        </p:txBody>
      </p:sp>
      <p:sp>
        <p:nvSpPr>
          <p:cNvPr id="419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420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30</a:t>
            </a:r>
          </a:p>
        </p:txBody>
      </p:sp>
      <p:sp>
        <p:nvSpPr>
          <p:cNvPr id="421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22" name="card"/>
          <p:cNvSpPr/>
          <p:nvPr/>
        </p:nvSpPr>
        <p:spPr>
          <a:xfrm>
            <a:off x="600000" y="188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23" name="badge"/>
          <p:cNvSpPr/>
          <p:nvPr/>
        </p:nvSpPr>
        <p:spPr>
          <a:xfrm>
            <a:off x="800000" y="208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01</a:t>
            </a:r>
          </a:p>
        </p:txBody>
      </p:sp>
      <p:sp>
        <p:nvSpPr>
          <p:cNvPr id="424" name="ch"/>
          <p:cNvSpPr txBox="1"/>
          <p:nvPr/>
        </p:nvSpPr>
        <p:spPr>
          <a:xfrm>
            <a:off x="1480000" y="209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입력·운영 공수 절감</a:t>
            </a:r>
          </a:p>
        </p:txBody>
      </p:sp>
      <p:sp>
        <p:nvSpPr>
          <p:cNvPr id="425" name="cd"/>
          <p:cNvSpPr txBox="1"/>
          <p:nvPr/>
        </p:nvSpPr>
        <p:spPr>
          <a:xfrm>
            <a:off x="810000" y="276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메뉴 탐색·수기 입력을 자연어로 대체하고 모바일까지 지원해 입력·변경 시간과 오류를 크게 줄입니다.</a:t>
            </a:r>
          </a:p>
        </p:txBody>
      </p:sp>
      <p:sp>
        <p:nvSpPr>
          <p:cNvPr id="426" name="card"/>
          <p:cNvSpPr/>
          <p:nvPr/>
        </p:nvSpPr>
        <p:spPr>
          <a:xfrm>
            <a:off x="6330000" y="188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27" name="badge"/>
          <p:cNvSpPr/>
          <p:nvPr/>
        </p:nvSpPr>
        <p:spPr>
          <a:xfrm>
            <a:off x="6530000" y="208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02</a:t>
            </a:r>
          </a:p>
        </p:txBody>
      </p:sp>
      <p:sp>
        <p:nvSpPr>
          <p:cNvPr id="428" name="ch"/>
          <p:cNvSpPr txBox="1"/>
          <p:nvPr/>
        </p:nvSpPr>
        <p:spPr>
          <a:xfrm>
            <a:off x="7210000" y="209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더존 아마란스 완결 연동</a:t>
            </a:r>
          </a:p>
        </p:txBody>
      </p:sp>
      <p:sp>
        <p:nvSpPr>
          <p:cNvPr id="429" name="cd"/>
          <p:cNvSpPr txBox="1"/>
          <p:nvPr/>
        </p:nvSpPr>
        <p:spPr>
          <a:xfrm>
            <a:off x="6540000" y="276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결산 회계전표·연차·전자결재가 더존과 자동 연동되어 이중 입력과 수작업 마감을 제거합니다.</a:t>
            </a:r>
          </a:p>
        </p:txBody>
      </p:sp>
      <p:sp>
        <p:nvSpPr>
          <p:cNvPr id="434" name="card"/>
          <p:cNvSpPr/>
          <p:nvPr/>
        </p:nvSpPr>
        <p:spPr>
          <a:xfrm>
            <a:off x="6330000" y="430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35" name="badge"/>
          <p:cNvSpPr/>
          <p:nvPr/>
        </p:nvSpPr>
        <p:spPr>
          <a:xfrm>
            <a:off x="6530000" y="450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04</a:t>
            </a:r>
          </a:p>
        </p:txBody>
      </p:sp>
      <p:sp>
        <p:nvSpPr>
          <p:cNvPr id="436" name="ch"/>
          <p:cNvSpPr txBox="1"/>
          <p:nvPr/>
        </p:nvSpPr>
        <p:spPr>
          <a:xfrm>
            <a:off x="7210000" y="451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SYU AI 파트너십 · 5개월</a:t>
            </a:r>
          </a:p>
        </p:txBody>
      </p:sp>
      <p:sp>
        <p:nvSpPr>
          <p:cNvPr id="437" name="cd"/>
          <p:cNvSpPr txBox="1"/>
          <p:nvPr/>
        </p:nvSpPr>
        <p:spPr>
          <a:xfrm>
            <a:off x="6540000" y="518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AI 전문기업 SYU의 LLM·OCR과 더존 연동 검증 경험으로 5개월 내 빠르고 안전하게 구축합니다.</a:t>
            </a: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5D2C3BDD-23B5-88AC-2B1D-B4417CE6ECA9}"/>
              </a:ext>
            </a:extLst>
          </p:cNvPr>
          <p:cNvSpPr/>
          <p:nvPr/>
        </p:nvSpPr>
        <p:spPr>
          <a:xfrm>
            <a:off x="600000" y="4300000"/>
            <a:ext cx="5430000" cy="2180000"/>
          </a:xfrm>
          <a:prstGeom prst="roundRect">
            <a:avLst>
              <a:gd name="adj" fmla="val 4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/>
          </a:p>
        </p:txBody>
      </p:sp>
      <p:sp>
        <p:nvSpPr>
          <p:cNvPr id="5" name="badge">
            <a:extLst>
              <a:ext uri="{FF2B5EF4-FFF2-40B4-BE49-F238E27FC236}">
                <a16:creationId xmlns:a16="http://schemas.microsoft.com/office/drawing/2014/main" id="{41C2739F-1FEA-1DE4-DF4E-9924FCAE5E67}"/>
              </a:ext>
            </a:extLst>
          </p:cNvPr>
          <p:cNvSpPr/>
          <p:nvPr/>
        </p:nvSpPr>
        <p:spPr>
          <a:xfrm>
            <a:off x="800000" y="4500000"/>
            <a:ext cx="560000" cy="56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03</a:t>
            </a:r>
          </a:p>
        </p:txBody>
      </p:sp>
      <p:sp>
        <p:nvSpPr>
          <p:cNvPr id="7" name="ch">
            <a:extLst>
              <a:ext uri="{FF2B5EF4-FFF2-40B4-BE49-F238E27FC236}">
                <a16:creationId xmlns:a16="http://schemas.microsoft.com/office/drawing/2014/main" id="{20023F8B-8BCB-369F-A822-89CB27F3F659}"/>
              </a:ext>
            </a:extLst>
          </p:cNvPr>
          <p:cNvSpPr txBox="1"/>
          <p:nvPr/>
        </p:nvSpPr>
        <p:spPr>
          <a:xfrm>
            <a:off x="1480000" y="4510000"/>
            <a:ext cx="4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MNSI</a:t>
            </a:r>
            <a:r>
              <a:rPr lang="ko-KR" altLang="en-US" sz="15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의 최소 인력 투입</a:t>
            </a:r>
            <a:endParaRPr lang="ko-KR" sz="1500" b="1" dirty="0">
              <a:solidFill>
                <a:srgbClr val="202124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cd">
            <a:extLst>
              <a:ext uri="{FF2B5EF4-FFF2-40B4-BE49-F238E27FC236}">
                <a16:creationId xmlns:a16="http://schemas.microsoft.com/office/drawing/2014/main" id="{951EB64E-BF26-56EF-B0C2-59837F522192}"/>
              </a:ext>
            </a:extLst>
          </p:cNvPr>
          <p:cNvSpPr txBox="1"/>
          <p:nvPr/>
        </p:nvSpPr>
        <p:spPr>
          <a:xfrm>
            <a:off x="810000" y="5180000"/>
            <a:ext cx="5010000" cy="1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기존 </a:t>
            </a:r>
            <a:r>
              <a:rPr lang="en-US" alt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ERP</a:t>
            </a:r>
            <a:r>
              <a:rPr lang="ko-KR" altLang="en-US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의 불편 메뉴 개선 및 신규 모듈 추가에 따른 데이터 이관 업무는 변경</a:t>
            </a:r>
            <a:r>
              <a:rPr lang="en-US" alt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·</a:t>
            </a:r>
            <a:r>
              <a:rPr lang="ko-KR" altLang="en-US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추가된 범위에 한해서만 제한적으로 진행됩니다</a:t>
            </a:r>
            <a:r>
              <a:rPr lang="en-US" alt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. </a:t>
            </a:r>
            <a:r>
              <a:rPr lang="ko-KR" altLang="en-US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이를 통해 기초환경설정부터 코드 관리까지의 작업 범위를 최적화함으로써</a:t>
            </a:r>
            <a:r>
              <a:rPr lang="en-US" alt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, MNSI</a:t>
            </a:r>
            <a:r>
              <a:rPr lang="ko-KR" altLang="en-US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의 투입 공수 및 휴먼 리소스를 최소화합니다</a:t>
            </a:r>
            <a:r>
              <a:rPr lang="en-US" altLang="ko-KR" sz="11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.</a:t>
            </a:r>
            <a:endParaRPr lang="ko-KR" sz="1180" dirty="0">
              <a:solidFill>
                <a:srgbClr val="3A3A3A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647" y="-2011630"/>
            <a:ext cx="5669138" cy="5669138"/>
          </a:xfrm>
          <a:prstGeom prst="ellipse">
            <a:avLst/>
          </a:prstGeom>
          <a:solidFill>
            <a:srgbClr val="2A22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645879" y="4937637"/>
            <a:ext cx="4389010" cy="4389010"/>
          </a:xfrm>
          <a:prstGeom prst="ellipse">
            <a:avLst/>
          </a:prstGeom>
          <a:solidFill>
            <a:srgbClr val="2A22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377" y="1341086"/>
            <a:ext cx="7315017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7" b="1" kern="0" spc="267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·  2차 제안</a:t>
            </a:r>
            <a:endParaRPr lang="en-US" sz="1507" dirty="0"/>
          </a:p>
        </p:txBody>
      </p:sp>
      <p:sp>
        <p:nvSpPr>
          <p:cNvPr id="5" name="Text 3"/>
          <p:cNvSpPr/>
          <p:nvPr/>
        </p:nvSpPr>
        <p:spPr>
          <a:xfrm>
            <a:off x="914377" y="1853138"/>
            <a:ext cx="10119107" cy="1950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67"/>
              </a:lnSpc>
              <a:buNone/>
            </a:pPr>
            <a:r>
              <a:rPr lang="en-US" sz="4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ERIGO 도입</a:t>
            </a:r>
            <a:endParaRPr lang="en-US" sz="4133" dirty="0"/>
          </a:p>
          <a:p>
            <a:pPr marL="0" indent="0">
              <a:lnSpc>
                <a:spcPts val="5467"/>
              </a:lnSpc>
              <a:buNone/>
            </a:pPr>
            <a:r>
              <a:rPr lang="en-US" sz="41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구매·입고 운영 자동화</a:t>
            </a:r>
            <a:endParaRPr lang="en-US" sz="4133" dirty="0"/>
          </a:p>
        </p:txBody>
      </p:sp>
      <p:sp>
        <p:nvSpPr>
          <p:cNvPr id="6" name="Text 4"/>
          <p:cNvSpPr/>
          <p:nvPr/>
        </p:nvSpPr>
        <p:spPr>
          <a:xfrm>
            <a:off x="914377" y="3974493"/>
            <a:ext cx="9753356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360" dirty="0">
                <a:solidFill>
                  <a:srgbClr val="D8CC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완성된 솔루션의 도입입니다. 신규 개발 없이 설정·연동·교육 중심으로 진행하며, 도입부터 안정화까지 2개월만 소요됩니다.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914377" y="4803528"/>
            <a:ext cx="4291477" cy="963144"/>
          </a:xfrm>
          <a:prstGeom prst="roundRect">
            <a:avLst>
              <a:gd name="adj" fmla="val 8861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21636" y="5010787"/>
            <a:ext cx="548626" cy="548626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21636" y="5010787"/>
            <a:ext cx="548626" cy="5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7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267" dirty="0"/>
          </a:p>
        </p:txBody>
      </p:sp>
      <p:sp>
        <p:nvSpPr>
          <p:cNvPr id="10" name="Text 8"/>
          <p:cNvSpPr/>
          <p:nvPr/>
        </p:nvSpPr>
        <p:spPr>
          <a:xfrm>
            <a:off x="1828754" y="4901061"/>
            <a:ext cx="3267374" cy="78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연동</a:t>
            </a:r>
            <a:endParaRPr lang="en-US" sz="1267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13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 · PMS/ERP 연계 · 공급사 온보딩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498455" y="4803528"/>
            <a:ext cx="4291477" cy="963144"/>
          </a:xfrm>
          <a:prstGeom prst="roundRect">
            <a:avLst>
              <a:gd name="adj" fmla="val 8861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705713" y="5010787"/>
            <a:ext cx="548626" cy="548626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05713" y="5010787"/>
            <a:ext cx="548626" cy="5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7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6412832" y="4901061"/>
            <a:ext cx="3267374" cy="78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· 교육</a:t>
            </a:r>
            <a:endParaRPr lang="en-US" sz="1267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13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운영 검증 · 현업 교육 · 정식 오픈</a:t>
            </a:r>
            <a:endParaRPr lang="en-US" sz="1267" dirty="0"/>
          </a:p>
        </p:txBody>
      </p:sp>
      <p:sp>
        <p:nvSpPr>
          <p:cNvPr id="15" name="Text 1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6A5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16" name="Text 1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8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2차 제안 · ERIGO</a:t>
            </a:r>
          </a:p>
        </p:txBody>
      </p:sp>
      <p:sp>
        <p:nvSpPr>
          <p:cNvPr id="159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ERIGO — ERP는 그대로, 운영은 AI로</a:t>
            </a:r>
          </a:p>
        </p:txBody>
      </p:sp>
      <p:sp>
        <p:nvSpPr>
          <p:cNvPr id="160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ERP-native AI Operations Platform</a:t>
            </a:r>
          </a:p>
        </p:txBody>
      </p:sp>
      <p:sp>
        <p:nvSpPr>
          <p:cNvPr id="161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62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32</a:t>
            </a:r>
          </a:p>
        </p:txBody>
      </p:sp>
      <p:sp>
        <p:nvSpPr>
          <p:cNvPr id="163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4" name="band"/>
          <p:cNvSpPr/>
          <p:nvPr/>
        </p:nvSpPr>
        <p:spPr>
          <a:xfrm>
            <a:off x="600000" y="1880000"/>
            <a:ext cx="10992000" cy="640000"/>
          </a:xfrm>
          <a:prstGeom prst="roundRect">
            <a:avLst>
              <a:gd name="adj" fmla="val 5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65" name="bt"/>
          <p:cNvSpPr txBox="1"/>
          <p:nvPr/>
        </p:nvSpPr>
        <p:spPr>
          <a:xfrm>
            <a:off x="900000" y="1880000"/>
            <a:ext cx="104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ERIGO는 단순 구매 시스템이 아니라, </a:t>
            </a:r>
            <a:r>
              <a:rPr lang="ko-KR" sz="12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기업 운영 전체를 연결하는 ERP-native AI 운영자동화 플랫폼</a:t>
            </a:r>
            <a:r>
              <a:rPr lang="ko-KR" sz="12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66" name="pc"/>
          <p:cNvSpPr/>
          <p:nvPr/>
        </p:nvSpPr>
        <p:spPr>
          <a:xfrm>
            <a:off x="600000" y="2780000"/>
            <a:ext cx="3500000" cy="18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67" name="pb"/>
          <p:cNvSpPr/>
          <p:nvPr/>
        </p:nvSpPr>
        <p:spPr>
          <a:xfrm>
            <a:off x="860000" y="3000000"/>
            <a:ext cx="620000" cy="620000"/>
          </a:xfrm>
          <a:prstGeom prst="roundRect">
            <a:avLst>
              <a:gd name="adj" fmla="val 20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01</a:t>
            </a:r>
          </a:p>
        </p:txBody>
      </p:sp>
      <p:sp>
        <p:nvSpPr>
          <p:cNvPr id="168" name="pt"/>
          <p:cNvSpPr txBox="1"/>
          <p:nvPr/>
        </p:nvSpPr>
        <p:spPr>
          <a:xfrm>
            <a:off x="1580000" y="3060000"/>
            <a:ext cx="24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입력 최소화</a:t>
            </a:r>
          </a:p>
        </p:txBody>
      </p:sp>
      <p:sp>
        <p:nvSpPr>
          <p:cNvPr id="169" name="pd"/>
          <p:cNvSpPr txBox="1"/>
          <p:nvPr/>
        </p:nvSpPr>
        <p:spPr>
          <a:xfrm>
            <a:off x="880000" y="378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반복 입력 제거 · 단순 UI · 현장 중심 설계 · 모바일 활용</a:t>
            </a:r>
          </a:p>
        </p:txBody>
      </p:sp>
      <p:sp>
        <p:nvSpPr>
          <p:cNvPr id="170" name="pc"/>
          <p:cNvSpPr/>
          <p:nvPr/>
        </p:nvSpPr>
        <p:spPr>
          <a:xfrm>
            <a:off x="4346000" y="2780000"/>
            <a:ext cx="3500000" cy="18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71" name="pb"/>
          <p:cNvSpPr/>
          <p:nvPr/>
        </p:nvSpPr>
        <p:spPr>
          <a:xfrm>
            <a:off x="4606000" y="3000000"/>
            <a:ext cx="620000" cy="620000"/>
          </a:xfrm>
          <a:prstGeom prst="roundRect">
            <a:avLst>
              <a:gd name="adj" fmla="val 20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2" name="pt"/>
          <p:cNvSpPr txBox="1"/>
          <p:nvPr/>
        </p:nvSpPr>
        <p:spPr>
          <a:xfrm>
            <a:off x="5326000" y="3060000"/>
            <a:ext cx="24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자동 연결</a:t>
            </a:r>
          </a:p>
        </p:txBody>
      </p:sp>
      <p:sp>
        <p:nvSpPr>
          <p:cNvPr id="173" name="pd"/>
          <p:cNvSpPr txBox="1"/>
          <p:nvPr/>
        </p:nvSpPr>
        <p:spPr>
          <a:xfrm>
            <a:off x="4626000" y="378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입고·출고 자동 반영 · 재고 자동 계산 · 거래처 자동 정리</a:t>
            </a:r>
          </a:p>
        </p:txBody>
      </p:sp>
      <p:sp>
        <p:nvSpPr>
          <p:cNvPr id="174" name="pc"/>
          <p:cNvSpPr/>
          <p:nvPr/>
        </p:nvSpPr>
        <p:spPr>
          <a:xfrm>
            <a:off x="8092000" y="2780000"/>
            <a:ext cx="3500000" cy="185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75" name="pb"/>
          <p:cNvSpPr/>
          <p:nvPr/>
        </p:nvSpPr>
        <p:spPr>
          <a:xfrm>
            <a:off x="8352000" y="3000000"/>
            <a:ext cx="620000" cy="620000"/>
          </a:xfrm>
          <a:prstGeom prst="roundRect">
            <a:avLst>
              <a:gd name="adj" fmla="val 20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6" name="pt"/>
          <p:cNvSpPr txBox="1"/>
          <p:nvPr/>
        </p:nvSpPr>
        <p:spPr>
          <a:xfrm>
            <a:off x="9072000" y="3060000"/>
            <a:ext cx="24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실시간 운영</a:t>
            </a:r>
          </a:p>
        </p:txBody>
      </p:sp>
      <p:sp>
        <p:nvSpPr>
          <p:cNvPr id="177" name="pd"/>
          <p:cNvSpPr txBox="1"/>
          <p:nvPr/>
        </p:nvSpPr>
        <p:spPr>
          <a:xfrm>
            <a:off x="8372000" y="378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현재고 즉시 확인 · 위험/부족 재고 분석 · 실시간 데이터 반영</a:t>
            </a:r>
          </a:p>
        </p:txBody>
      </p:sp>
      <p:sp>
        <p:nvSpPr>
          <p:cNvPr id="178" name="cmp"/>
          <p:cNvSpPr/>
          <p:nvPr/>
        </p:nvSpPr>
        <p:spPr>
          <a:xfrm>
            <a:off x="600000" y="4840000"/>
            <a:ext cx="10992000" cy="760000"/>
          </a:xfrm>
          <a:prstGeom prst="roundRect">
            <a:avLst>
              <a:gd name="adj" fmla="val 4000"/>
            </a:avLst>
          </a:prstGeom>
          <a:solidFill>
            <a:srgbClr val="5E1926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79" name="cmt"/>
          <p:cNvSpPr txBox="1"/>
          <p:nvPr/>
        </p:nvSpPr>
        <p:spPr>
          <a:xfrm>
            <a:off x="900000" y="4840000"/>
            <a:ext cx="10400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기존 MRO는 ‘구매’까지만 해결합니다.  </a:t>
            </a:r>
            <a:r>
              <a:rPr lang="ko-KR" sz="115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ERIGO는 구매 이후 재고·입출고·마감 운영까지 자동화</a:t>
            </a:r>
            <a:r>
              <a:rPr lang="ko-KR" sz="11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합니다.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1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2차 제안 · ERIGO</a:t>
            </a:r>
          </a:p>
        </p:txBody>
      </p:sp>
      <p:sp>
        <p:nvSpPr>
          <p:cNvPr id="182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대화형 운영 &amp; 운영 흐름 자동 연결</a:t>
            </a:r>
          </a:p>
        </p:txBody>
      </p:sp>
      <p:sp>
        <p:nvSpPr>
          <p:cNvPr id="183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LLM Console &amp; Flow Automation</a:t>
            </a:r>
          </a:p>
        </p:txBody>
      </p:sp>
      <p:sp>
        <p:nvSpPr>
          <p:cNvPr id="184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185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33</a:t>
            </a:r>
          </a:p>
        </p:txBody>
      </p:sp>
      <p:sp>
        <p:nvSpPr>
          <p:cNvPr id="186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7" name="cw"/>
          <p:cNvSpPr/>
          <p:nvPr/>
        </p:nvSpPr>
        <p:spPr>
          <a:xfrm>
            <a:off x="600000" y="1900000"/>
            <a:ext cx="5400000" cy="3950000"/>
          </a:xfrm>
          <a:prstGeom prst="rect">
            <a:avLst/>
          </a:prstGeom>
          <a:solidFill>
            <a:srgbClr val="FFFFFF"/>
          </a:solidFill>
          <a:ln>
            <a:solidFill>
              <a:srgbClr val="DAD5D4"/>
            </a:solidFill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8" name="cwt"/>
          <p:cNvSpPr/>
          <p:nvPr/>
        </p:nvSpPr>
        <p:spPr>
          <a:xfrm>
            <a:off x="600000" y="1900000"/>
            <a:ext cx="5400000" cy="420000"/>
          </a:xfrm>
          <a:prstGeom prst="rect">
            <a:avLst/>
          </a:prstGeom>
          <a:solidFill>
            <a:srgbClr val="F2EEE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9" name="cwtt"/>
          <p:cNvSpPr txBox="1"/>
          <p:nvPr/>
        </p:nvSpPr>
        <p:spPr>
          <a:xfrm>
            <a:off x="600000" y="1900000"/>
            <a:ext cx="54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ERIGO · LLM Console</a:t>
            </a:r>
          </a:p>
        </p:txBody>
      </p:sp>
      <p:sp>
        <p:nvSpPr>
          <p:cNvPr id="190" name="cb"/>
          <p:cNvSpPr/>
          <p:nvPr/>
        </p:nvSpPr>
        <p:spPr>
          <a:xfrm>
            <a:off x="2200000" y="2540000"/>
            <a:ext cx="3600000" cy="52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“오늘 부족 예상 품목 알려줘”</a:t>
            </a:r>
          </a:p>
        </p:txBody>
      </p:sp>
      <p:sp>
        <p:nvSpPr>
          <p:cNvPr id="191" name="cb"/>
          <p:cNvSpPr/>
          <p:nvPr/>
        </p:nvSpPr>
        <p:spPr>
          <a:xfrm>
            <a:off x="2200000" y="3220000"/>
            <a:ext cx="3600000" cy="520000"/>
          </a:xfrm>
          <a:prstGeom prst="roundRect">
            <a:avLst>
              <a:gd name="adj" fmla="val 18000"/>
            </a:avLst>
          </a:prstGeom>
          <a:solidFill>
            <a:srgbClr val="202124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“이번달 미마감 거래처 보여줘”</a:t>
            </a:r>
          </a:p>
        </p:txBody>
      </p:sp>
      <p:sp>
        <p:nvSpPr>
          <p:cNvPr id="192" name="cb"/>
          <p:cNvSpPr/>
          <p:nvPr/>
        </p:nvSpPr>
        <p:spPr>
          <a:xfrm>
            <a:off x="800000" y="3900000"/>
            <a:ext cx="4900000" cy="900000"/>
          </a:xfrm>
          <a:prstGeom prst="roundRect">
            <a:avLst>
              <a:gd name="adj" fmla="val 18000"/>
            </a:avLst>
          </a:prstGeom>
          <a:solidFill>
            <a:srgbClr val="F4F1F0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부족 예상 12개 SKU · 회전율순 정렬. 미마감 거래처 현황도 함께 확인 가능합니다.</a:t>
            </a:r>
          </a:p>
        </p:txBody>
      </p:sp>
      <p:sp>
        <p:nvSpPr>
          <p:cNvPr id="193" name="ci"/>
          <p:cNvSpPr/>
          <p:nvPr/>
        </p:nvSpPr>
        <p:spPr>
          <a:xfrm>
            <a:off x="800000" y="5360000"/>
            <a:ext cx="4400000" cy="360000"/>
          </a:xfrm>
          <a:prstGeom prst="roundRect">
            <a:avLst>
              <a:gd name="adj" fmla="val 40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자연어로 명령하세요</a:t>
            </a:r>
          </a:p>
        </p:txBody>
      </p:sp>
      <p:sp>
        <p:nvSpPr>
          <p:cNvPr id="194" name="fh"/>
          <p:cNvSpPr txBox="1"/>
          <p:nvPr/>
        </p:nvSpPr>
        <p:spPr>
          <a:xfrm>
            <a:off x="6230000" y="1900000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운영 흐름 자동 연결</a:t>
            </a:r>
          </a:p>
        </p:txBody>
      </p:sp>
      <p:sp>
        <p:nvSpPr>
          <p:cNvPr id="195" name="fb2"/>
          <p:cNvSpPr/>
          <p:nvPr/>
        </p:nvSpPr>
        <p:spPr>
          <a:xfrm>
            <a:off x="6230000" y="2320000"/>
            <a:ext cx="5360000" cy="470000"/>
          </a:xfrm>
          <a:prstGeom prst="roundRect">
            <a:avLst>
              <a:gd name="adj" fmla="val 10000"/>
            </a:avLst>
          </a:prstGeom>
          <a:solidFill>
            <a:srgbClr val="202124"/>
          </a:solidFill>
          <a:ln>
            <a:solidFill>
              <a:srgbClr val="ECE7E6"/>
            </a:solidFill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01  입고</a:t>
            </a:r>
          </a:p>
        </p:txBody>
      </p:sp>
      <p:sp>
        <p:nvSpPr>
          <p:cNvPr id="196" name="fb2"/>
          <p:cNvSpPr/>
          <p:nvPr/>
        </p:nvSpPr>
        <p:spPr>
          <a:xfrm>
            <a:off x="6230000" y="2880000"/>
            <a:ext cx="5360000" cy="470000"/>
          </a:xfrm>
          <a:prstGeom prst="roundRect">
            <a:avLst>
              <a:gd name="adj" fmla="val 10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02  실시간 재고 반영</a:t>
            </a:r>
          </a:p>
        </p:txBody>
      </p:sp>
      <p:sp>
        <p:nvSpPr>
          <p:cNvPr id="197" name="fb2"/>
          <p:cNvSpPr/>
          <p:nvPr/>
        </p:nvSpPr>
        <p:spPr>
          <a:xfrm>
            <a:off x="6230000" y="3440000"/>
            <a:ext cx="5360000" cy="470000"/>
          </a:xfrm>
          <a:prstGeom prst="roundRect">
            <a:avLst>
              <a:gd name="adj" fmla="val 10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03  출고 · 재고 자동 계산</a:t>
            </a:r>
          </a:p>
        </p:txBody>
      </p:sp>
      <p:sp>
        <p:nvSpPr>
          <p:cNvPr id="198" name="fb2"/>
          <p:cNvSpPr/>
          <p:nvPr/>
        </p:nvSpPr>
        <p:spPr>
          <a:xfrm>
            <a:off x="6230000" y="4000000"/>
            <a:ext cx="5360000" cy="470000"/>
          </a:xfrm>
          <a:prstGeom prst="roundRect">
            <a:avLst>
              <a:gd name="adj" fmla="val 10000"/>
            </a:avLst>
          </a:prstGeom>
          <a:solidFill>
            <a:srgbClr val="F6F2F1"/>
          </a:solidFill>
          <a:ln>
            <a:solidFill>
              <a:srgbClr val="ECE7E6"/>
            </a:solidFill>
          </a:ln>
        </p:spPr>
        <p:txBody>
          <a:bodyPr wrap="square" lIns="60000" tIns="20000" rIns="60000" bIns="200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04  거래처 정산 · 마감 자동 생성</a:t>
            </a:r>
          </a:p>
        </p:txBody>
      </p:sp>
      <p:sp>
        <p:nvSpPr>
          <p:cNvPr id="199" name="ah"/>
          <p:cNvSpPr txBox="1"/>
          <p:nvPr/>
        </p:nvSpPr>
        <p:spPr>
          <a:xfrm>
            <a:off x="6230000" y="4600000"/>
            <a:ext cx="5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AI 분석 · 예측</a:t>
            </a:r>
          </a:p>
        </p:txBody>
      </p:sp>
      <p:sp>
        <p:nvSpPr>
          <p:cNvPr id="200" name="chip"/>
          <p:cNvSpPr/>
          <p:nvPr/>
        </p:nvSpPr>
        <p:spPr>
          <a:xfrm>
            <a:off x="6230000" y="4920000"/>
            <a:ext cx="1227500" cy="33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6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부족 예상</a:t>
            </a:r>
          </a:p>
        </p:txBody>
      </p:sp>
      <p:sp>
        <p:nvSpPr>
          <p:cNvPr id="201" name="chip"/>
          <p:cNvSpPr/>
          <p:nvPr/>
        </p:nvSpPr>
        <p:spPr>
          <a:xfrm>
            <a:off x="7607500" y="4920000"/>
            <a:ext cx="1227500" cy="33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6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과잉 재고</a:t>
            </a:r>
          </a:p>
        </p:txBody>
      </p:sp>
      <p:sp>
        <p:nvSpPr>
          <p:cNvPr id="202" name="chip"/>
          <p:cNvSpPr/>
          <p:nvPr/>
        </p:nvSpPr>
        <p:spPr>
          <a:xfrm>
            <a:off x="8985000" y="4920000"/>
            <a:ext cx="1227500" cy="33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6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회전율 저하</a:t>
            </a:r>
          </a:p>
        </p:txBody>
      </p:sp>
      <p:sp>
        <p:nvSpPr>
          <p:cNvPr id="203" name="chip"/>
          <p:cNvSpPr/>
          <p:nvPr/>
        </p:nvSpPr>
        <p:spPr>
          <a:xfrm>
            <a:off x="10362500" y="4920000"/>
            <a:ext cx="1227500" cy="33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60" b="1" dirty="0">
                <a:solidFill>
                  <a:srgbClr val="5E1926"/>
                </a:solidFill>
                <a:latin typeface="Calibri"/>
                <a:ea typeface="맑은 고딕"/>
                <a:cs typeface="맑은 고딕"/>
              </a:rPr>
              <a:t>시즌성·패턴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motif"/>
          <p:cNvSpPr/>
          <p:nvPr/>
        </p:nvSpPr>
        <p:spPr>
          <a:xfrm>
            <a:off x="600000" y="470000"/>
            <a:ext cx="150000" cy="150000"/>
          </a:xfrm>
          <a:prstGeom prst="rect">
            <a:avLst/>
          </a:prstGeom>
          <a:solidFill>
            <a:srgbClr val="7A203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5" name="tag"/>
          <p:cNvSpPr txBox="1"/>
          <p:nvPr/>
        </p:nvSpPr>
        <p:spPr>
          <a:xfrm>
            <a:off x="830000" y="41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spc="60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2차 제안 · ERIGO</a:t>
            </a:r>
          </a:p>
        </p:txBody>
      </p:sp>
      <p:sp>
        <p:nvSpPr>
          <p:cNvPr id="206" name="title"/>
          <p:cNvSpPr txBox="1"/>
          <p:nvPr/>
        </p:nvSpPr>
        <p:spPr>
          <a:xfrm>
            <a:off x="825000" y="720000"/>
            <a:ext cx="10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마감 자동화 · ERP 연계 &amp; MNSI 시너지</a:t>
            </a:r>
          </a:p>
        </p:txBody>
      </p:sp>
      <p:sp>
        <p:nvSpPr>
          <p:cNvPr id="207" name="subtitle"/>
          <p:cNvSpPr txBox="1"/>
          <p:nvPr/>
        </p:nvSpPr>
        <p:spPr>
          <a:xfrm>
            <a:off x="830000" y="1280000"/>
            <a:ext cx="10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4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Month-End Automation &amp; ERP Integration</a:t>
            </a:r>
          </a:p>
        </p:txBody>
      </p:sp>
      <p:sp>
        <p:nvSpPr>
          <p:cNvPr id="208" name="ftr"/>
          <p:cNvSpPr txBox="1"/>
          <p:nvPr/>
        </p:nvSpPr>
        <p:spPr>
          <a:xfrm>
            <a:off x="600000" y="6498000"/>
            <a:ext cx="8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rgbClr val="9A9694"/>
                </a:solidFill>
                <a:latin typeface="Calibri"/>
                <a:ea typeface="맑은 고딕"/>
                <a:cs typeface="맑은 고딕"/>
              </a:rPr>
              <a:t>MNSI 수주·제작 LLM 기반 PMS 구축 사업 제안서</a:t>
            </a:r>
          </a:p>
        </p:txBody>
      </p:sp>
      <p:sp>
        <p:nvSpPr>
          <p:cNvPr id="209" name="pg"/>
          <p:cNvSpPr txBox="1"/>
          <p:nvPr/>
        </p:nvSpPr>
        <p:spPr>
          <a:xfrm>
            <a:off x="11092000" y="6498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34</a:t>
            </a:r>
          </a:p>
        </p:txBody>
      </p:sp>
      <p:sp>
        <p:nvSpPr>
          <p:cNvPr id="210" name="corner"/>
          <p:cNvSpPr/>
          <p:nvPr/>
        </p:nvSpPr>
        <p:spPr>
          <a:xfrm flipH="1" flipV="1">
            <a:off x="11632000" y="6298000"/>
            <a:ext cx="560000" cy="560000"/>
          </a:xfrm>
          <a:prstGeom prst="rtTriangle">
            <a:avLst/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1" name="me"/>
          <p:cNvSpPr/>
          <p:nvPr/>
        </p:nvSpPr>
        <p:spPr>
          <a:xfrm>
            <a:off x="600000" y="1880000"/>
            <a:ext cx="5400000" cy="1700000"/>
          </a:xfrm>
          <a:prstGeom prst="roundRect">
            <a:avLst>
              <a:gd name="adj" fmla="val 5000"/>
            </a:avLst>
          </a:prstGeom>
          <a:solidFill>
            <a:srgbClr val="F4F1F0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12" name="met"/>
          <p:cNvSpPr txBox="1"/>
          <p:nvPr/>
        </p:nvSpPr>
        <p:spPr>
          <a:xfrm>
            <a:off x="880000" y="2060000"/>
            <a:ext cx="4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월말 마감 자동화</a:t>
            </a:r>
          </a:p>
        </p:txBody>
      </p:sp>
      <p:sp>
        <p:nvSpPr>
          <p:cNvPr id="213" name="med"/>
          <p:cNvSpPr txBox="1"/>
          <p:nvPr/>
        </p:nvSpPr>
        <p:spPr>
          <a:xfrm>
            <a:off x="880000" y="2440000"/>
            <a:ext cx="49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거래처별 매입계산서를 한 장으로 통합. 입고·출고·품목·계산서가 자동 매칭되어, 거래처가 많아도 단 한 장으로 마감 정리됩니다.</a:t>
            </a:r>
          </a:p>
        </p:txBody>
      </p:sp>
      <p:sp>
        <p:nvSpPr>
          <p:cNvPr id="214" name="eh"/>
          <p:cNvSpPr txBox="1"/>
          <p:nvPr/>
        </p:nvSpPr>
        <p:spPr>
          <a:xfrm>
            <a:off x="6230000" y="1880000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5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ERP 연계 환경</a:t>
            </a:r>
          </a:p>
        </p:txBody>
      </p:sp>
      <p:sp>
        <p:nvSpPr>
          <p:cNvPr id="215" name="chip"/>
          <p:cNvSpPr/>
          <p:nvPr/>
        </p:nvSpPr>
        <p:spPr>
          <a:xfrm>
            <a:off x="6230000" y="230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7A2033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더존</a:t>
            </a:r>
          </a:p>
        </p:txBody>
      </p:sp>
      <p:sp>
        <p:nvSpPr>
          <p:cNvPr id="216" name="chip"/>
          <p:cNvSpPr/>
          <p:nvPr/>
        </p:nvSpPr>
        <p:spPr>
          <a:xfrm>
            <a:off x="8066666" y="230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SAP</a:t>
            </a:r>
          </a:p>
        </p:txBody>
      </p:sp>
      <p:sp>
        <p:nvSpPr>
          <p:cNvPr id="217" name="chip"/>
          <p:cNvSpPr/>
          <p:nvPr/>
        </p:nvSpPr>
        <p:spPr>
          <a:xfrm>
            <a:off x="9903332" y="230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영림원</a:t>
            </a:r>
          </a:p>
        </p:txBody>
      </p:sp>
      <p:sp>
        <p:nvSpPr>
          <p:cNvPr id="218" name="chip"/>
          <p:cNvSpPr/>
          <p:nvPr/>
        </p:nvSpPr>
        <p:spPr>
          <a:xfrm>
            <a:off x="6230000" y="273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Oracle</a:t>
            </a:r>
          </a:p>
        </p:txBody>
      </p:sp>
      <p:sp>
        <p:nvSpPr>
          <p:cNvPr id="219" name="chip"/>
          <p:cNvSpPr/>
          <p:nvPr/>
        </p:nvSpPr>
        <p:spPr>
          <a:xfrm>
            <a:off x="8066666" y="273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Legacy</a:t>
            </a:r>
          </a:p>
        </p:txBody>
      </p:sp>
      <p:sp>
        <p:nvSpPr>
          <p:cNvPr id="220" name="chip"/>
          <p:cNvSpPr/>
          <p:nvPr/>
        </p:nvSpPr>
        <p:spPr>
          <a:xfrm>
            <a:off x="9903332" y="2730000"/>
            <a:ext cx="1686666" cy="360000"/>
          </a:xfrm>
          <a:prstGeom prst="roundRect">
            <a:avLst>
              <a:gd name="adj" fmla="val 30000"/>
            </a:avLst>
          </a:prstGeom>
          <a:solidFill>
            <a:srgbClr val="EFEAE9"/>
          </a:solidFill>
          <a:ln>
            <a:noFill/>
          </a:ln>
        </p:spPr>
        <p:txBody>
          <a:bodyPr wrap="square" lIns="60000" tIns="20000" rIns="60000" bIns="20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자체 ERP</a:t>
            </a:r>
          </a:p>
        </p:txBody>
      </p:sp>
      <p:sp>
        <p:nvSpPr>
          <p:cNvPr id="221" name="en"/>
          <p:cNvSpPr txBox="1"/>
          <p:nvPr/>
        </p:nvSpPr>
        <p:spPr>
          <a:xfrm>
            <a:off x="6230000" y="3220000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 i="1" dirty="0">
                <a:solidFill>
                  <a:srgbClr val="857F7D"/>
                </a:solidFill>
                <a:latin typeface="Calibri"/>
                <a:ea typeface="맑은 고딕"/>
                <a:cs typeface="맑은 고딕"/>
              </a:rPr>
              <a:t>※ 더존 아마란스 회계·HR 연동을 그대로 활용</a:t>
            </a:r>
          </a:p>
        </p:txBody>
      </p:sp>
      <p:sp>
        <p:nvSpPr>
          <p:cNvPr id="222" name="syn"/>
          <p:cNvSpPr/>
          <p:nvPr/>
        </p:nvSpPr>
        <p:spPr>
          <a:xfrm>
            <a:off x="600000" y="3760000"/>
            <a:ext cx="10992000" cy="9200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  <a:effectLst>
            <a:outerShdw blurRad="50800" dist="254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23" name="synt"/>
          <p:cNvSpPr txBox="1"/>
          <p:nvPr/>
        </p:nvSpPr>
        <p:spPr>
          <a:xfrm>
            <a:off x="900000" y="3840000"/>
            <a:ext cx="10400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7A2033"/>
                </a:solidFill>
                <a:latin typeface="Calibri"/>
                <a:ea typeface="맑은 고딕"/>
                <a:cs typeface="맑은 고딕"/>
              </a:rPr>
              <a:t>MNSI 시너지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ERIGO 운영자동화(구매·재고·마감) + 본 PMS(수주·진척·원가·더존 회계 연동)를 결합해 구매요청 → 입고 → 마감 → 회계전표까지 End-to-End 자동화를 실현합니다.</a:t>
            </a:r>
          </a:p>
        </p:txBody>
      </p:sp>
      <p:sp>
        <p:nvSpPr>
          <p:cNvPr id="224" name="pe"/>
          <p:cNvSpPr/>
          <p:nvPr/>
        </p:nvSpPr>
        <p:spPr>
          <a:xfrm>
            <a:off x="600000" y="4880000"/>
            <a:ext cx="3500000" cy="720000"/>
          </a:xfrm>
          <a:prstGeom prst="roundRect">
            <a:avLst>
              <a:gd name="adj" fmla="val 8000"/>
            </a:avLst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5" name="pet"/>
          <p:cNvSpPr txBox="1"/>
          <p:nvPr/>
        </p:nvSpPr>
        <p:spPr>
          <a:xfrm>
            <a:off x="820000" y="4980000"/>
            <a:ext cx="30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현장 담당자</a:t>
            </a:r>
          </a:p>
        </p:txBody>
      </p:sp>
      <p:sp>
        <p:nvSpPr>
          <p:cNvPr id="226" name="ped"/>
          <p:cNvSpPr txBox="1"/>
          <p:nvPr/>
        </p:nvSpPr>
        <p:spPr>
          <a:xfrm>
            <a:off x="820000" y="5280000"/>
            <a:ext cx="30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입력 최소화 · 마감 부담 감소</a:t>
            </a:r>
          </a:p>
        </p:txBody>
      </p:sp>
      <p:sp>
        <p:nvSpPr>
          <p:cNvPr id="227" name="pe"/>
          <p:cNvSpPr/>
          <p:nvPr/>
        </p:nvSpPr>
        <p:spPr>
          <a:xfrm>
            <a:off x="4346000" y="4880000"/>
            <a:ext cx="3500000" cy="720000"/>
          </a:xfrm>
          <a:prstGeom prst="roundRect">
            <a:avLst>
              <a:gd name="adj" fmla="val 8000"/>
            </a:avLst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8" name="pet"/>
          <p:cNvSpPr txBox="1"/>
          <p:nvPr/>
        </p:nvSpPr>
        <p:spPr>
          <a:xfrm>
            <a:off x="4566000" y="4980000"/>
            <a:ext cx="30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229" name="ped"/>
          <p:cNvSpPr txBox="1"/>
          <p:nvPr/>
        </p:nvSpPr>
        <p:spPr>
          <a:xfrm>
            <a:off x="4566000" y="5280000"/>
            <a:ext cx="30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운영 가시성 · 재고 신뢰도</a:t>
            </a:r>
          </a:p>
        </p:txBody>
      </p:sp>
      <p:sp>
        <p:nvSpPr>
          <p:cNvPr id="230" name="pe"/>
          <p:cNvSpPr/>
          <p:nvPr/>
        </p:nvSpPr>
        <p:spPr>
          <a:xfrm>
            <a:off x="8092000" y="4880000"/>
            <a:ext cx="3500000" cy="720000"/>
          </a:xfrm>
          <a:prstGeom prst="roundRect">
            <a:avLst>
              <a:gd name="adj" fmla="val 8000"/>
            </a:avLst>
          </a:prstGeom>
          <a:solidFill>
            <a:srgbClr val="F4F1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1" name="pet"/>
          <p:cNvSpPr txBox="1"/>
          <p:nvPr/>
        </p:nvSpPr>
        <p:spPr>
          <a:xfrm>
            <a:off x="8312000" y="4980000"/>
            <a:ext cx="30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dirty="0">
                <a:solidFill>
                  <a:srgbClr val="202124"/>
                </a:solidFill>
                <a:latin typeface="Calibri"/>
                <a:ea typeface="맑은 고딕"/>
                <a:cs typeface="맑은 고딕"/>
              </a:rPr>
              <a:t>경영진</a:t>
            </a:r>
          </a:p>
        </p:txBody>
      </p:sp>
      <p:sp>
        <p:nvSpPr>
          <p:cNvPr id="232" name="ped"/>
          <p:cNvSpPr txBox="1"/>
          <p:nvPr/>
        </p:nvSpPr>
        <p:spPr>
          <a:xfrm>
            <a:off x="8312000" y="5280000"/>
            <a:ext cx="30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dirty="0">
                <a:solidFill>
                  <a:srgbClr val="3A3A3A"/>
                </a:solidFill>
                <a:latin typeface="Calibri"/>
                <a:ea typeface="맑은 고딕"/>
                <a:cs typeface="맑은 고딕"/>
              </a:rPr>
              <a:t>운영 비용 감소 · ERP 활용 극대화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제안 · ERIGO 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구매발주 일원화 — PMS·ERIGO 통합 운영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Unified Procurement — PMS × ERIGO Single Flow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43" y="2048205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메뉴명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70543" y="2389572"/>
            <a:ext cx="5973931" cy="560818"/>
          </a:xfrm>
          <a:prstGeom prst="roundRect">
            <a:avLst>
              <a:gd name="adj" fmla="val 13043"/>
            </a:avLst>
          </a:prstGeom>
          <a:solidFill>
            <a:srgbClr val="F7F3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3419" y="2389572"/>
            <a:ext cx="5608180" cy="56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구매발주 관리 (ERIGO)  /  공급사 납품예정 등록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0543" y="3121074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개요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43" y="3438058"/>
            <a:ext cx="5973931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37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PMS의 구매요청·발주와 ERIGO의 구매·재고·마감을 하나의 흐름으로 일원화하고, 공급사가 발주 접수 시 납품예정수량·단가 확정 금액을 사전 입력하여 입고 준비가 자동으로 갖춰지는 체계</a:t>
            </a:r>
            <a:endParaRPr lang="en-US" sz="1373" dirty="0"/>
          </a:p>
        </p:txBody>
      </p:sp>
      <p:sp>
        <p:nvSpPr>
          <p:cNvPr id="12" name="Text 10"/>
          <p:cNvSpPr/>
          <p:nvPr/>
        </p:nvSpPr>
        <p:spPr>
          <a:xfrm>
            <a:off x="670543" y="4462160"/>
            <a:ext cx="5973931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43" y="4779145"/>
            <a:ext cx="5973931" cy="1463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 발주 확정 → ERIGO 발주 자동 전달, 입고 결과 양방향 동기화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공급사 사전 입력: 납품예정수량·납품일·단가 확정 금액 등록·공유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예정정보 기반 입고 대기 목록 자동 생성 (입고대상 사전 확보)</a:t>
            </a:r>
            <a:endParaRPr lang="en-US" sz="133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33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→ 재고 반영 → 거래처 정산·월마감 자동 연결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949266" y="2048205"/>
            <a:ext cx="4571886" cy="4267093"/>
          </a:xfrm>
          <a:prstGeom prst="roundRect">
            <a:avLst>
              <a:gd name="adj" fmla="val 2286"/>
            </a:avLst>
          </a:prstGeom>
          <a:solidFill>
            <a:srgbClr val="1A1718"/>
          </a:solidFill>
          <a:ln/>
          <a:effectLst>
            <a:outerShdw blurRad="88900" dist="25400" dir="5400000" algn="bl" rotWithShape="0">
              <a:srgbClr val="8C807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17484" y="2267655"/>
            <a:ext cx="4035451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일원화 운영 흐름</a:t>
            </a:r>
            <a:endParaRPr lang="en-US" sz="1533" dirty="0"/>
          </a:p>
        </p:txBody>
      </p:sp>
      <p:sp>
        <p:nvSpPr>
          <p:cNvPr id="16" name="Shape 14"/>
          <p:cNvSpPr/>
          <p:nvPr/>
        </p:nvSpPr>
        <p:spPr>
          <a:xfrm>
            <a:off x="7193100" y="2730940"/>
            <a:ext cx="4084218" cy="755885"/>
          </a:xfrm>
          <a:prstGeom prst="roundRect">
            <a:avLst>
              <a:gd name="adj" fmla="val 9677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39401" y="2730940"/>
            <a:ext cx="487668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643" y="2791898"/>
            <a:ext cx="3352716" cy="65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PMS 발주 확정</a:t>
            </a:r>
            <a:endParaRPr lang="en-US" sz="1333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47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확정함 승인 → ERIGO 전달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7193100" y="3608742"/>
            <a:ext cx="4084218" cy="755885"/>
          </a:xfrm>
          <a:prstGeom prst="roundRect">
            <a:avLst>
              <a:gd name="adj" fmla="val 9677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39401" y="3608742"/>
            <a:ext cx="487668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643" y="3669700"/>
            <a:ext cx="3352716" cy="65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공급사 사전 입력</a:t>
            </a:r>
            <a:endParaRPr lang="en-US" sz="1333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47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납품예정수량 · 단가 확정 금액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7193100" y="4486544"/>
            <a:ext cx="4084218" cy="755885"/>
          </a:xfrm>
          <a:prstGeom prst="roundRect">
            <a:avLst>
              <a:gd name="adj" fmla="val 9677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39401" y="4486544"/>
            <a:ext cx="487668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643" y="4547502"/>
            <a:ext cx="3352716" cy="65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대기 자동 생성</a:t>
            </a:r>
            <a:endParaRPr lang="en-US" sz="1333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47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예정정보 기반 입고대상 준비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7193100" y="5364346"/>
            <a:ext cx="4084218" cy="755885"/>
          </a:xfrm>
          <a:prstGeom prst="roundRect">
            <a:avLst>
              <a:gd name="adj" fmla="val 9677"/>
            </a:avLst>
          </a:prstGeom>
          <a:solidFill>
            <a:srgbClr val="2A2224"/>
          </a:solidFill>
          <a:ln w="12700">
            <a:solidFill>
              <a:srgbClr val="5030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39401" y="5364346"/>
            <a:ext cx="487668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643" y="5425304"/>
            <a:ext cx="3352716" cy="65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· 마감 자동 연결</a:t>
            </a:r>
            <a:endParaRPr lang="en-US" sz="1333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47" dirty="0">
                <a:solidFill>
                  <a:srgbClr val="A99B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반영 → 정산 · 월마감 · 회계</a:t>
            </a:r>
            <a:endParaRPr lang="en-US" sz="133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43" y="390134"/>
            <a:ext cx="548626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제안 · ERIGO 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70543" y="707118"/>
            <a:ext cx="10850609" cy="75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OCR 입고 — 사진 한 장으로 ERP 입고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0543" y="1438620"/>
            <a:ext cx="1085060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i="1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OCR Goods Receipt — Snap, Match, Confirm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145176" y="6437215"/>
            <a:ext cx="6949266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3" dirty="0">
                <a:solidFill>
                  <a:srgbClr val="9A8F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MNSI 수주·제작 LLM 기반 PMS 구축 사업 제안서</a:t>
            </a:r>
            <a:endParaRPr lang="en-US" sz="1133" dirty="0"/>
          </a:p>
        </p:txBody>
      </p:sp>
      <p:sp>
        <p:nvSpPr>
          <p:cNvPr id="6" name="Text 4"/>
          <p:cNvSpPr/>
          <p:nvPr/>
        </p:nvSpPr>
        <p:spPr>
          <a:xfrm>
            <a:off x="11277318" y="6437215"/>
            <a:ext cx="42670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0543" y="2194505"/>
            <a:ext cx="2023821" cy="2170122"/>
          </a:xfrm>
          <a:prstGeom prst="roundRect">
            <a:avLst>
              <a:gd name="adj" fmla="val 421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02045" y="236518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58" y="2511002"/>
            <a:ext cx="269193" cy="2691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0543" y="2986965"/>
            <a:ext cx="202382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1067" dirty="0"/>
          </a:p>
        </p:txBody>
      </p:sp>
      <p:sp>
        <p:nvSpPr>
          <p:cNvPr id="11" name="Text 8"/>
          <p:cNvSpPr/>
          <p:nvPr/>
        </p:nvSpPr>
        <p:spPr>
          <a:xfrm>
            <a:off x="731502" y="3242991"/>
            <a:ext cx="1901904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공급사 사전 입력</a:t>
            </a:r>
            <a:endParaRPr lang="en-US" sz="1373" dirty="0"/>
          </a:p>
        </p:txBody>
      </p:sp>
      <p:sp>
        <p:nvSpPr>
          <p:cNvPr id="12" name="Text 9"/>
          <p:cNvSpPr/>
          <p:nvPr/>
        </p:nvSpPr>
        <p:spPr>
          <a:xfrm>
            <a:off x="743693" y="3608742"/>
            <a:ext cx="1877521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납품예정수량·단가</a:t>
            </a:r>
            <a:endParaRPr lang="en-US" sz="112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금액 등록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2676077" y="3023540"/>
            <a:ext cx="231642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733" dirty="0"/>
          </a:p>
        </p:txBody>
      </p:sp>
      <p:sp>
        <p:nvSpPr>
          <p:cNvPr id="14" name="Shape 11"/>
          <p:cNvSpPr/>
          <p:nvPr/>
        </p:nvSpPr>
        <p:spPr>
          <a:xfrm>
            <a:off x="2877240" y="2194505"/>
            <a:ext cx="2023821" cy="2170122"/>
          </a:xfrm>
          <a:prstGeom prst="roundRect">
            <a:avLst>
              <a:gd name="adj" fmla="val 421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3608742" y="236518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554" y="2511002"/>
            <a:ext cx="269193" cy="2691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77240" y="2986965"/>
            <a:ext cx="202382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1067" dirty="0"/>
          </a:p>
        </p:txBody>
      </p:sp>
      <p:sp>
        <p:nvSpPr>
          <p:cNvPr id="18" name="Text 14"/>
          <p:cNvSpPr/>
          <p:nvPr/>
        </p:nvSpPr>
        <p:spPr>
          <a:xfrm>
            <a:off x="2938199" y="3242991"/>
            <a:ext cx="1901904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거래명세서 촬영</a:t>
            </a:r>
            <a:endParaRPr lang="en-US" sz="1373" dirty="0"/>
          </a:p>
        </p:txBody>
      </p:sp>
      <p:sp>
        <p:nvSpPr>
          <p:cNvPr id="19" name="Text 15"/>
          <p:cNvSpPr/>
          <p:nvPr/>
        </p:nvSpPr>
        <p:spPr>
          <a:xfrm>
            <a:off x="2950390" y="3608742"/>
            <a:ext cx="1877521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현장에서</a:t>
            </a:r>
            <a:endParaRPr lang="en-US" sz="112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모바일로 사진 촬영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4882774" y="3023540"/>
            <a:ext cx="231642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733" dirty="0"/>
          </a:p>
        </p:txBody>
      </p:sp>
      <p:sp>
        <p:nvSpPr>
          <p:cNvPr id="21" name="Shape 17"/>
          <p:cNvSpPr/>
          <p:nvPr/>
        </p:nvSpPr>
        <p:spPr>
          <a:xfrm>
            <a:off x="5083937" y="2194505"/>
            <a:ext cx="2023821" cy="2170122"/>
          </a:xfrm>
          <a:prstGeom prst="roundRect">
            <a:avLst>
              <a:gd name="adj" fmla="val 421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15439" y="236518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251" y="2511002"/>
            <a:ext cx="269193" cy="2691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83937" y="2986965"/>
            <a:ext cx="202382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1067" dirty="0"/>
          </a:p>
        </p:txBody>
      </p:sp>
      <p:sp>
        <p:nvSpPr>
          <p:cNvPr id="25" name="Text 20"/>
          <p:cNvSpPr/>
          <p:nvPr/>
        </p:nvSpPr>
        <p:spPr>
          <a:xfrm>
            <a:off x="5144895" y="3242991"/>
            <a:ext cx="1901904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OCR·LLM 분석</a:t>
            </a:r>
            <a:endParaRPr lang="en-US" sz="1373" dirty="0"/>
          </a:p>
        </p:txBody>
      </p:sp>
      <p:sp>
        <p:nvSpPr>
          <p:cNvPr id="26" name="Text 21"/>
          <p:cNvSpPr/>
          <p:nvPr/>
        </p:nvSpPr>
        <p:spPr>
          <a:xfrm>
            <a:off x="5157087" y="3608742"/>
            <a:ext cx="1877521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품목·수량·금액 인식,</a:t>
            </a:r>
            <a:endParaRPr lang="en-US" sz="112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입고대상(발주) 자동 매칭</a:t>
            </a:r>
            <a:endParaRPr lang="en-US" sz="1120" dirty="0"/>
          </a:p>
        </p:txBody>
      </p:sp>
      <p:sp>
        <p:nvSpPr>
          <p:cNvPr id="27" name="Text 22"/>
          <p:cNvSpPr/>
          <p:nvPr/>
        </p:nvSpPr>
        <p:spPr>
          <a:xfrm>
            <a:off x="7089471" y="3023540"/>
            <a:ext cx="231642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733" dirty="0"/>
          </a:p>
        </p:txBody>
      </p:sp>
      <p:sp>
        <p:nvSpPr>
          <p:cNvPr id="28" name="Shape 23"/>
          <p:cNvSpPr/>
          <p:nvPr/>
        </p:nvSpPr>
        <p:spPr>
          <a:xfrm>
            <a:off x="7290634" y="2194505"/>
            <a:ext cx="2023821" cy="2170122"/>
          </a:xfrm>
          <a:prstGeom prst="roundRect">
            <a:avLst>
              <a:gd name="adj" fmla="val 4217"/>
            </a:avLst>
          </a:prstGeom>
          <a:solidFill>
            <a:srgbClr val="1A1718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022135" y="236518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948" y="2511002"/>
            <a:ext cx="269193" cy="26919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90634" y="2986965"/>
            <a:ext cx="202382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</a:t>
            </a:r>
            <a:endParaRPr lang="en-US" sz="1067" dirty="0"/>
          </a:p>
        </p:txBody>
      </p:sp>
      <p:sp>
        <p:nvSpPr>
          <p:cNvPr id="32" name="Text 26"/>
          <p:cNvSpPr/>
          <p:nvPr/>
        </p:nvSpPr>
        <p:spPr>
          <a:xfrm>
            <a:off x="7351592" y="3242991"/>
            <a:ext cx="1901904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확인·확정</a:t>
            </a:r>
            <a:endParaRPr lang="en-US" sz="1373" dirty="0"/>
          </a:p>
        </p:txBody>
      </p:sp>
      <p:sp>
        <p:nvSpPr>
          <p:cNvPr id="33" name="Text 27"/>
          <p:cNvSpPr/>
          <p:nvPr/>
        </p:nvSpPr>
        <p:spPr>
          <a:xfrm>
            <a:off x="7363784" y="3608742"/>
            <a:ext cx="1877521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DFC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예정정보와 자동 대사,</a:t>
            </a:r>
            <a:endParaRPr lang="en-US" sz="112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DFC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항목 하이라이트</a:t>
            </a:r>
            <a:endParaRPr lang="en-US" sz="1120" dirty="0"/>
          </a:p>
        </p:txBody>
      </p:sp>
      <p:sp>
        <p:nvSpPr>
          <p:cNvPr id="34" name="Text 28"/>
          <p:cNvSpPr/>
          <p:nvPr/>
        </p:nvSpPr>
        <p:spPr>
          <a:xfrm>
            <a:off x="9296168" y="3023540"/>
            <a:ext cx="231642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733" dirty="0"/>
          </a:p>
        </p:txBody>
      </p:sp>
      <p:sp>
        <p:nvSpPr>
          <p:cNvPr id="35" name="Shape 29"/>
          <p:cNvSpPr/>
          <p:nvPr/>
        </p:nvSpPr>
        <p:spPr>
          <a:xfrm>
            <a:off x="9497331" y="2194505"/>
            <a:ext cx="2023821" cy="2170122"/>
          </a:xfrm>
          <a:prstGeom prst="roundRect">
            <a:avLst>
              <a:gd name="adj" fmla="val 4217"/>
            </a:avLst>
          </a:prstGeom>
          <a:solidFill>
            <a:srgbClr val="F7F3F2"/>
          </a:solidFill>
          <a:ln/>
          <a:effectLst>
            <a:outerShdw blurRad="63500" dist="25400" dir="5400000" algn="bl" rotWithShape="0">
              <a:srgbClr val="8C807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10228832" y="2365189"/>
            <a:ext cx="560818" cy="560818"/>
          </a:xfrm>
          <a:prstGeom prst="ellipse">
            <a:avLst/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4645" y="2511002"/>
            <a:ext cx="269193" cy="26919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497331" y="2986965"/>
            <a:ext cx="2023821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948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</a:t>
            </a:r>
            <a:endParaRPr lang="en-US" sz="1067" dirty="0"/>
          </a:p>
        </p:txBody>
      </p:sp>
      <p:sp>
        <p:nvSpPr>
          <p:cNvPr id="39" name="Text 32"/>
          <p:cNvSpPr/>
          <p:nvPr/>
        </p:nvSpPr>
        <p:spPr>
          <a:xfrm>
            <a:off x="9558289" y="3242991"/>
            <a:ext cx="1901904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3" b="1" dirty="0">
                <a:solidFill>
                  <a:srgbClr val="262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입고 반영</a:t>
            </a:r>
            <a:endParaRPr lang="en-US" sz="1373" dirty="0"/>
          </a:p>
        </p:txBody>
      </p:sp>
      <p:sp>
        <p:nvSpPr>
          <p:cNvPr id="40" name="Text 33"/>
          <p:cNvSpPr/>
          <p:nvPr/>
        </p:nvSpPr>
        <p:spPr>
          <a:xfrm>
            <a:off x="9570481" y="3608742"/>
            <a:ext cx="1877521" cy="68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재고·마감·회계 연계,</a:t>
            </a:r>
            <a:endParaRPr lang="en-US" sz="112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20" dirty="0">
                <a:solidFill>
                  <a:srgbClr val="777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적재</a:t>
            </a:r>
            <a:endParaRPr lang="en-US" sz="1120" dirty="0"/>
          </a:p>
        </p:txBody>
      </p:sp>
      <p:sp>
        <p:nvSpPr>
          <p:cNvPr id="41" name="Text 34"/>
          <p:cNvSpPr/>
          <p:nvPr/>
        </p:nvSpPr>
        <p:spPr>
          <a:xfrm>
            <a:off x="670543" y="4608461"/>
            <a:ext cx="6583515" cy="31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구축 및 개발 내용</a:t>
            </a:r>
            <a:endParaRPr lang="en-US" sz="1467" dirty="0"/>
          </a:p>
        </p:txBody>
      </p:sp>
      <p:sp>
        <p:nvSpPr>
          <p:cNvPr id="42" name="Text 35"/>
          <p:cNvSpPr/>
          <p:nvPr/>
        </p:nvSpPr>
        <p:spPr>
          <a:xfrm>
            <a:off x="670543" y="4925445"/>
            <a:ext cx="6705432" cy="140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29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[OCR·LLM] 거래명세서 사진에서 품목·수량·단가·합계 인식 및 정규화</a:t>
            </a:r>
            <a:endParaRPr lang="en-US" sz="129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29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공급사 사전 입력 예정정보·발주 잔량과 3-way 대사, 입고대상 자동 추천</a:t>
            </a:r>
            <a:endParaRPr lang="en-US" sz="129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29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화면에서 확정 시에만 ERP 입고 반영 — 확정 전 미반영 원칙 동일 적용</a:t>
            </a:r>
            <a:endParaRPr lang="en-US" sz="1293" dirty="0"/>
          </a:p>
          <a:p>
            <a:pPr marL="127000" indent="-127000">
              <a:lnSpc>
                <a:spcPts val="1800"/>
              </a:lnSpc>
              <a:buSzPct val="100000"/>
              <a:buChar char="•"/>
            </a:pPr>
            <a:r>
              <a:rPr lang="en-US" sz="1293" dirty="0">
                <a:solidFill>
                  <a:srgbClr val="3A36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차이(수량·단가) 발생 건은 예외 처리 워크플로우로 분기·알림</a:t>
            </a:r>
            <a:endParaRPr lang="en-US" sz="1293" dirty="0"/>
          </a:p>
        </p:txBody>
      </p:sp>
      <p:sp>
        <p:nvSpPr>
          <p:cNvPr id="43" name="Shape 36"/>
          <p:cNvSpPr/>
          <p:nvPr/>
        </p:nvSpPr>
        <p:spPr>
          <a:xfrm>
            <a:off x="7741726" y="4608461"/>
            <a:ext cx="3779426" cy="1706837"/>
          </a:xfrm>
          <a:prstGeom prst="roundRect">
            <a:avLst>
              <a:gd name="adj" fmla="val 5714"/>
            </a:avLst>
          </a:prstGeom>
          <a:solidFill>
            <a:srgbClr val="1A17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/>
          <p:nvPr/>
        </p:nvSpPr>
        <p:spPr>
          <a:xfrm>
            <a:off x="7985560" y="4754761"/>
            <a:ext cx="3291758" cy="292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A6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입고 확정</a:t>
            </a:r>
            <a:endParaRPr lang="en-US" sz="1333" dirty="0"/>
          </a:p>
        </p:txBody>
      </p:sp>
      <p:sp>
        <p:nvSpPr>
          <p:cNvPr id="45" name="Text 38"/>
          <p:cNvSpPr/>
          <p:nvPr/>
        </p:nvSpPr>
        <p:spPr>
          <a:xfrm>
            <a:off x="7985560" y="5071745"/>
            <a:ext cx="3352716" cy="63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33"/>
              </a:lnSpc>
              <a:buNone/>
            </a:pPr>
            <a:r>
              <a:rPr lang="en-US" sz="1173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 </a:t>
            </a:r>
            <a:r>
              <a:rPr lang="en-US" sz="1173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PO-0612 체결 볼트 M20 · 200 EA</a:t>
            </a:r>
            <a:endParaRPr lang="en-US" sz="1173" dirty="0"/>
          </a:p>
          <a:p>
            <a:pPr marL="0" indent="0">
              <a:lnSpc>
                <a:spcPts val="1533"/>
              </a:lnSpc>
              <a:buNone/>
            </a:pPr>
            <a:r>
              <a:rPr lang="en-US" sz="1173" b="1" dirty="0">
                <a:solidFill>
                  <a:srgbClr val="8C8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 </a:t>
            </a:r>
            <a:r>
              <a:rPr lang="en-US" sz="1173" dirty="0">
                <a:solidFill>
                  <a:srgbClr val="EF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 200 = 명세서 200 · 단가 일치</a:t>
            </a:r>
            <a:endParaRPr lang="en-US" sz="1173" dirty="0"/>
          </a:p>
        </p:txBody>
      </p:sp>
      <p:sp>
        <p:nvSpPr>
          <p:cNvPr id="46" name="Shape 39"/>
          <p:cNvSpPr/>
          <p:nvPr/>
        </p:nvSpPr>
        <p:spPr>
          <a:xfrm>
            <a:off x="7985560" y="5778864"/>
            <a:ext cx="3291758" cy="390134"/>
          </a:xfrm>
          <a:prstGeom prst="roundRect">
            <a:avLst>
              <a:gd name="adj" fmla="val 15625"/>
            </a:avLst>
          </a:prstGeom>
          <a:solidFill>
            <a:srgbClr val="A63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/>
          <p:nvPr/>
        </p:nvSpPr>
        <p:spPr>
          <a:xfrm>
            <a:off x="7985560" y="5778864"/>
            <a:ext cx="3291758" cy="390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ERP 입고 반영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14">
      <a:dk1>
        <a:srgbClr val="3A3A3A"/>
      </a:dk1>
      <a:lt1>
        <a:srgbClr val="FFFFFF"/>
      </a:lt1>
      <a:dk2>
        <a:srgbClr val="F4F1F0"/>
      </a:dk2>
      <a:lt2>
        <a:srgbClr val="9A9694"/>
      </a:lt2>
      <a:accent1>
        <a:srgbClr val="202124"/>
      </a:accent1>
      <a:accent2>
        <a:srgbClr val="7A2033"/>
      </a:accent2>
      <a:accent3>
        <a:srgbClr val="F4F1F0"/>
      </a:accent3>
      <a:accent4>
        <a:srgbClr val="7A2033"/>
      </a:accent4>
      <a:accent5>
        <a:srgbClr val="7A2033"/>
      </a:accent5>
      <a:accent6>
        <a:srgbClr val="5E1926"/>
      </a:accent6>
      <a:hlink>
        <a:srgbClr val="202124"/>
      </a:hlink>
      <a:folHlink>
        <a:srgbClr val="7A203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285209_TF00951641_Win32" id="{F92430C8-A7F6-4230-B0CA-0EB05798717F}" vid="{A19E8D0B-A2CE-4558-9345-5D3820F3E5D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5403E"/>
      </a:dk2>
      <a:lt2>
        <a:srgbClr val="EFEAE9"/>
      </a:lt2>
      <a:accent1>
        <a:srgbClr val="7A2033"/>
      </a:accent1>
      <a:accent2>
        <a:srgbClr val="A63A4E"/>
      </a:accent2>
      <a:accent3>
        <a:srgbClr val="9A9694"/>
      </a:accent3>
      <a:accent4>
        <a:srgbClr val="7A2033"/>
      </a:accent4>
      <a:accent5>
        <a:srgbClr val="A63A4E"/>
      </a:accent5>
      <a:accent6>
        <a:srgbClr val="A63A4E"/>
      </a:accent6>
      <a:hlink>
        <a:srgbClr val="7A2033"/>
      </a:hlink>
      <a:folHlink>
        <a:srgbClr val="7A203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5403E"/>
      </a:dk2>
      <a:lt2>
        <a:srgbClr val="EFEAE9"/>
      </a:lt2>
      <a:accent1>
        <a:srgbClr val="7A2033"/>
      </a:accent1>
      <a:accent2>
        <a:srgbClr val="A63A4E"/>
      </a:accent2>
      <a:accent3>
        <a:srgbClr val="9A9694"/>
      </a:accent3>
      <a:accent4>
        <a:srgbClr val="7A2033"/>
      </a:accent4>
      <a:accent5>
        <a:srgbClr val="A63A4E"/>
      </a:accent5>
      <a:accent6>
        <a:srgbClr val="A63A4E"/>
      </a:accent6>
      <a:hlink>
        <a:srgbClr val="7A2033"/>
      </a:hlink>
      <a:folHlink>
        <a:srgbClr val="7A203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육각형 프레젠테이션 라이트</Template>
  <TotalTime>102</TotalTime>
  <Words>5260</Words>
  <Application>Microsoft Office PowerPoint</Application>
  <PresentationFormat>와이드스크린</PresentationFormat>
  <Paragraphs>760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Malgun Gothic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범균 박</dc:creator>
  <cp:lastModifiedBy>범균 박</cp:lastModifiedBy>
  <cp:revision>3</cp:revision>
  <dcterms:created xsi:type="dcterms:W3CDTF">2026-06-22T09:13:51Z</dcterms:created>
  <dcterms:modified xsi:type="dcterms:W3CDTF">2026-07-05T22:03:28Z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